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3" r:id="rId6"/>
    <p:sldId id="262" r:id="rId7"/>
    <p:sldId id="263" r:id="rId8"/>
    <p:sldId id="278" r:id="rId9"/>
    <p:sldId id="264" r:id="rId10"/>
    <p:sldId id="274" r:id="rId11"/>
    <p:sldId id="275" r:id="rId12"/>
    <p:sldId id="265" r:id="rId13"/>
    <p:sldId id="266" r:id="rId14"/>
    <p:sldId id="276" r:id="rId15"/>
    <p:sldId id="267" r:id="rId16"/>
    <p:sldId id="268" r:id="rId17"/>
    <p:sldId id="269" r:id="rId18"/>
    <p:sldId id="270" r:id="rId19"/>
    <p:sldId id="27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3E3"/>
    <a:srgbClr val="1C5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16005A-5430-46F4-9300-3180E01D7361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697E25-94EF-465C-98C9-5567225E9A2F}">
      <dgm:prSet/>
      <dgm:spPr/>
      <dgm:t>
        <a:bodyPr/>
        <a:lstStyle/>
        <a:p>
          <a:r>
            <a:rPr lang="en-US" b="0" i="0" baseline="0" dirty="0"/>
            <a:t>VR/AR food preparation monitoring systems.</a:t>
          </a:r>
          <a:endParaRPr lang="en-US" dirty="0"/>
        </a:p>
      </dgm:t>
    </dgm:pt>
    <dgm:pt modelId="{E335751B-68E0-4BFC-A267-D38AE1A3707A}" type="parTrans" cxnId="{FC7838A7-FC62-49D0-9708-32D013384F2F}">
      <dgm:prSet/>
      <dgm:spPr/>
      <dgm:t>
        <a:bodyPr/>
        <a:lstStyle/>
        <a:p>
          <a:endParaRPr lang="en-US"/>
        </a:p>
      </dgm:t>
    </dgm:pt>
    <dgm:pt modelId="{E2432E84-B363-4B38-A0C3-D69B5EAA700F}" type="sibTrans" cxnId="{FC7838A7-FC62-49D0-9708-32D013384F2F}">
      <dgm:prSet/>
      <dgm:spPr/>
      <dgm:t>
        <a:bodyPr/>
        <a:lstStyle/>
        <a:p>
          <a:endParaRPr lang="en-US"/>
        </a:p>
      </dgm:t>
    </dgm:pt>
    <dgm:pt modelId="{E80BD020-A9A3-4370-9494-4013BC60E8E9}">
      <dgm:prSet/>
      <dgm:spPr/>
      <dgm:t>
        <a:bodyPr/>
        <a:lstStyle/>
        <a:p>
          <a:r>
            <a:rPr lang="en-US" b="0" i="0" baseline="0"/>
            <a:t>core functionalities of the proposed system.</a:t>
          </a:r>
          <a:endParaRPr lang="en-US"/>
        </a:p>
      </dgm:t>
    </dgm:pt>
    <dgm:pt modelId="{B2E938F4-E5A5-4FC3-87F0-9F363B190AD6}" type="parTrans" cxnId="{D84393E5-F025-4828-8322-C3A4FB8C895F}">
      <dgm:prSet/>
      <dgm:spPr/>
      <dgm:t>
        <a:bodyPr/>
        <a:lstStyle/>
        <a:p>
          <a:endParaRPr lang="en-US"/>
        </a:p>
      </dgm:t>
    </dgm:pt>
    <dgm:pt modelId="{13BD601D-0975-4865-8A9D-6C247B5FCD4E}" type="sibTrans" cxnId="{D84393E5-F025-4828-8322-C3A4FB8C895F}">
      <dgm:prSet/>
      <dgm:spPr/>
      <dgm:t>
        <a:bodyPr/>
        <a:lstStyle/>
        <a:p>
          <a:endParaRPr lang="en-US"/>
        </a:p>
      </dgm:t>
    </dgm:pt>
    <dgm:pt modelId="{C35188C3-207B-47BD-9933-F46F7B00F71E}">
      <dgm:prSet/>
      <dgm:spPr/>
      <dgm:t>
        <a:bodyPr/>
        <a:lstStyle/>
        <a:p>
          <a:r>
            <a:rPr lang="en-US" b="0" i="0" baseline="0" dirty="0"/>
            <a:t>the benefits for restaurants (increased transparency, improved efficiency) and customers (enhanced trust, visual engagement).</a:t>
          </a:r>
          <a:endParaRPr lang="en-US" dirty="0"/>
        </a:p>
      </dgm:t>
    </dgm:pt>
    <dgm:pt modelId="{909B9B8F-ED0B-444E-B44F-57CFB063C62A}" type="parTrans" cxnId="{F8327E3F-1283-43B8-8F85-F48375FDF6B2}">
      <dgm:prSet/>
      <dgm:spPr/>
      <dgm:t>
        <a:bodyPr/>
        <a:lstStyle/>
        <a:p>
          <a:endParaRPr lang="en-US"/>
        </a:p>
      </dgm:t>
    </dgm:pt>
    <dgm:pt modelId="{3E1E0AE2-6DC7-4865-8F07-06CECC9B9A59}" type="sibTrans" cxnId="{F8327E3F-1283-43B8-8F85-F48375FDF6B2}">
      <dgm:prSet/>
      <dgm:spPr/>
      <dgm:t>
        <a:bodyPr/>
        <a:lstStyle/>
        <a:p>
          <a:endParaRPr lang="en-US"/>
        </a:p>
      </dgm:t>
    </dgm:pt>
    <dgm:pt modelId="{07C84857-263E-42DB-BABB-19255A13E6A2}" type="pres">
      <dgm:prSet presAssocID="{C416005A-5430-46F4-9300-3180E01D7361}" presName="vert0" presStyleCnt="0">
        <dgm:presLayoutVars>
          <dgm:dir/>
          <dgm:animOne val="branch"/>
          <dgm:animLvl val="lvl"/>
        </dgm:presLayoutVars>
      </dgm:prSet>
      <dgm:spPr/>
    </dgm:pt>
    <dgm:pt modelId="{F570C08E-90B9-473A-9E81-AD0D90A3F018}" type="pres">
      <dgm:prSet presAssocID="{F3697E25-94EF-465C-98C9-5567225E9A2F}" presName="thickLine" presStyleLbl="alignNode1" presStyleIdx="0" presStyleCnt="3"/>
      <dgm:spPr/>
    </dgm:pt>
    <dgm:pt modelId="{37730635-1083-432E-9862-8000E0DE6E9D}" type="pres">
      <dgm:prSet presAssocID="{F3697E25-94EF-465C-98C9-5567225E9A2F}" presName="horz1" presStyleCnt="0"/>
      <dgm:spPr/>
    </dgm:pt>
    <dgm:pt modelId="{DF414609-5B47-4D81-9292-C81317191F9C}" type="pres">
      <dgm:prSet presAssocID="{F3697E25-94EF-465C-98C9-5567225E9A2F}" presName="tx1" presStyleLbl="revTx" presStyleIdx="0" presStyleCnt="3"/>
      <dgm:spPr/>
    </dgm:pt>
    <dgm:pt modelId="{08671889-DAC1-4015-8D42-280B71223CB4}" type="pres">
      <dgm:prSet presAssocID="{F3697E25-94EF-465C-98C9-5567225E9A2F}" presName="vert1" presStyleCnt="0"/>
      <dgm:spPr/>
    </dgm:pt>
    <dgm:pt modelId="{85ABAE63-F894-4F5B-A32C-65A542E5CDDB}" type="pres">
      <dgm:prSet presAssocID="{E80BD020-A9A3-4370-9494-4013BC60E8E9}" presName="thickLine" presStyleLbl="alignNode1" presStyleIdx="1" presStyleCnt="3"/>
      <dgm:spPr/>
    </dgm:pt>
    <dgm:pt modelId="{82280671-4818-4CE0-A47F-B72A3F8B71EA}" type="pres">
      <dgm:prSet presAssocID="{E80BD020-A9A3-4370-9494-4013BC60E8E9}" presName="horz1" presStyleCnt="0"/>
      <dgm:spPr/>
    </dgm:pt>
    <dgm:pt modelId="{436DB9AD-112E-4BB2-A59C-7D5664E5199A}" type="pres">
      <dgm:prSet presAssocID="{E80BD020-A9A3-4370-9494-4013BC60E8E9}" presName="tx1" presStyleLbl="revTx" presStyleIdx="1" presStyleCnt="3"/>
      <dgm:spPr/>
    </dgm:pt>
    <dgm:pt modelId="{7432F987-6856-4B4F-80FD-931222C936C5}" type="pres">
      <dgm:prSet presAssocID="{E80BD020-A9A3-4370-9494-4013BC60E8E9}" presName="vert1" presStyleCnt="0"/>
      <dgm:spPr/>
    </dgm:pt>
    <dgm:pt modelId="{9A9F886F-0BF6-4AD2-8301-A6B3D37F2D44}" type="pres">
      <dgm:prSet presAssocID="{C35188C3-207B-47BD-9933-F46F7B00F71E}" presName="thickLine" presStyleLbl="alignNode1" presStyleIdx="2" presStyleCnt="3"/>
      <dgm:spPr/>
    </dgm:pt>
    <dgm:pt modelId="{FC1F28F7-FF48-4941-99D6-04658ED1A72D}" type="pres">
      <dgm:prSet presAssocID="{C35188C3-207B-47BD-9933-F46F7B00F71E}" presName="horz1" presStyleCnt="0"/>
      <dgm:spPr/>
    </dgm:pt>
    <dgm:pt modelId="{08E12E74-CAD6-419B-8194-82D6472755B1}" type="pres">
      <dgm:prSet presAssocID="{C35188C3-207B-47BD-9933-F46F7B00F71E}" presName="tx1" presStyleLbl="revTx" presStyleIdx="2" presStyleCnt="3"/>
      <dgm:spPr/>
    </dgm:pt>
    <dgm:pt modelId="{B610A76B-7DAE-4E49-8965-D2C07128AAF0}" type="pres">
      <dgm:prSet presAssocID="{C35188C3-207B-47BD-9933-F46F7B00F71E}" presName="vert1" presStyleCnt="0"/>
      <dgm:spPr/>
    </dgm:pt>
  </dgm:ptLst>
  <dgm:cxnLst>
    <dgm:cxn modelId="{CD703D0A-EA04-4F94-8930-E70E8D5CE2C3}" type="presOf" srcId="{E80BD020-A9A3-4370-9494-4013BC60E8E9}" destId="{436DB9AD-112E-4BB2-A59C-7D5664E5199A}" srcOrd="0" destOrd="0" presId="urn:microsoft.com/office/officeart/2008/layout/LinedList"/>
    <dgm:cxn modelId="{43188D18-D4DC-4C3D-B207-9581F474921A}" type="presOf" srcId="{C416005A-5430-46F4-9300-3180E01D7361}" destId="{07C84857-263E-42DB-BABB-19255A13E6A2}" srcOrd="0" destOrd="0" presId="urn:microsoft.com/office/officeart/2008/layout/LinedList"/>
    <dgm:cxn modelId="{F8327E3F-1283-43B8-8F85-F48375FDF6B2}" srcId="{C416005A-5430-46F4-9300-3180E01D7361}" destId="{C35188C3-207B-47BD-9933-F46F7B00F71E}" srcOrd="2" destOrd="0" parTransId="{909B9B8F-ED0B-444E-B44F-57CFB063C62A}" sibTransId="{3E1E0AE2-6DC7-4865-8F07-06CECC9B9A59}"/>
    <dgm:cxn modelId="{60CADB7B-2F8F-4C37-907A-5B2C58939879}" type="presOf" srcId="{F3697E25-94EF-465C-98C9-5567225E9A2F}" destId="{DF414609-5B47-4D81-9292-C81317191F9C}" srcOrd="0" destOrd="0" presId="urn:microsoft.com/office/officeart/2008/layout/LinedList"/>
    <dgm:cxn modelId="{FC7838A7-FC62-49D0-9708-32D013384F2F}" srcId="{C416005A-5430-46F4-9300-3180E01D7361}" destId="{F3697E25-94EF-465C-98C9-5567225E9A2F}" srcOrd="0" destOrd="0" parTransId="{E335751B-68E0-4BFC-A267-D38AE1A3707A}" sibTransId="{E2432E84-B363-4B38-A0C3-D69B5EAA700F}"/>
    <dgm:cxn modelId="{D84393E5-F025-4828-8322-C3A4FB8C895F}" srcId="{C416005A-5430-46F4-9300-3180E01D7361}" destId="{E80BD020-A9A3-4370-9494-4013BC60E8E9}" srcOrd="1" destOrd="0" parTransId="{B2E938F4-E5A5-4FC3-87F0-9F363B190AD6}" sibTransId="{13BD601D-0975-4865-8A9D-6C247B5FCD4E}"/>
    <dgm:cxn modelId="{A29016F7-F21D-44BA-A0CA-95D462FF9F99}" type="presOf" srcId="{C35188C3-207B-47BD-9933-F46F7B00F71E}" destId="{08E12E74-CAD6-419B-8194-82D6472755B1}" srcOrd="0" destOrd="0" presId="urn:microsoft.com/office/officeart/2008/layout/LinedList"/>
    <dgm:cxn modelId="{2B100868-884F-4384-812C-685E6357A01E}" type="presParOf" srcId="{07C84857-263E-42DB-BABB-19255A13E6A2}" destId="{F570C08E-90B9-473A-9E81-AD0D90A3F018}" srcOrd="0" destOrd="0" presId="urn:microsoft.com/office/officeart/2008/layout/LinedList"/>
    <dgm:cxn modelId="{9C8C1419-8D9D-48FC-A2AB-48445B29970D}" type="presParOf" srcId="{07C84857-263E-42DB-BABB-19255A13E6A2}" destId="{37730635-1083-432E-9862-8000E0DE6E9D}" srcOrd="1" destOrd="0" presId="urn:microsoft.com/office/officeart/2008/layout/LinedList"/>
    <dgm:cxn modelId="{57FB1DAB-0D24-4877-825A-F615F20BD336}" type="presParOf" srcId="{37730635-1083-432E-9862-8000E0DE6E9D}" destId="{DF414609-5B47-4D81-9292-C81317191F9C}" srcOrd="0" destOrd="0" presId="urn:microsoft.com/office/officeart/2008/layout/LinedList"/>
    <dgm:cxn modelId="{36370AB4-BDB8-4FF1-A4CF-39A45C17A9C7}" type="presParOf" srcId="{37730635-1083-432E-9862-8000E0DE6E9D}" destId="{08671889-DAC1-4015-8D42-280B71223CB4}" srcOrd="1" destOrd="0" presId="urn:microsoft.com/office/officeart/2008/layout/LinedList"/>
    <dgm:cxn modelId="{1DF17F95-718D-4E4D-9F0D-DAC1923FB3A9}" type="presParOf" srcId="{07C84857-263E-42DB-BABB-19255A13E6A2}" destId="{85ABAE63-F894-4F5B-A32C-65A542E5CDDB}" srcOrd="2" destOrd="0" presId="urn:microsoft.com/office/officeart/2008/layout/LinedList"/>
    <dgm:cxn modelId="{62923DE9-4AFC-4226-9939-6A55D3F4AC4C}" type="presParOf" srcId="{07C84857-263E-42DB-BABB-19255A13E6A2}" destId="{82280671-4818-4CE0-A47F-B72A3F8B71EA}" srcOrd="3" destOrd="0" presId="urn:microsoft.com/office/officeart/2008/layout/LinedList"/>
    <dgm:cxn modelId="{05204904-3493-41C9-A036-C0FFC53BA69F}" type="presParOf" srcId="{82280671-4818-4CE0-A47F-B72A3F8B71EA}" destId="{436DB9AD-112E-4BB2-A59C-7D5664E5199A}" srcOrd="0" destOrd="0" presId="urn:microsoft.com/office/officeart/2008/layout/LinedList"/>
    <dgm:cxn modelId="{171A6986-C6CA-4E28-BF87-705F5147383F}" type="presParOf" srcId="{82280671-4818-4CE0-A47F-B72A3F8B71EA}" destId="{7432F987-6856-4B4F-80FD-931222C936C5}" srcOrd="1" destOrd="0" presId="urn:microsoft.com/office/officeart/2008/layout/LinedList"/>
    <dgm:cxn modelId="{7C1F3677-9A5E-4B8B-81AB-48DD1D31DCE4}" type="presParOf" srcId="{07C84857-263E-42DB-BABB-19255A13E6A2}" destId="{9A9F886F-0BF6-4AD2-8301-A6B3D37F2D44}" srcOrd="4" destOrd="0" presId="urn:microsoft.com/office/officeart/2008/layout/LinedList"/>
    <dgm:cxn modelId="{E9491F23-3D36-46DB-9A1E-7CF1E141CA2F}" type="presParOf" srcId="{07C84857-263E-42DB-BABB-19255A13E6A2}" destId="{FC1F28F7-FF48-4941-99D6-04658ED1A72D}" srcOrd="5" destOrd="0" presId="urn:microsoft.com/office/officeart/2008/layout/LinedList"/>
    <dgm:cxn modelId="{892F4FFB-BFA3-49FD-A1A2-B823CE544997}" type="presParOf" srcId="{FC1F28F7-FF48-4941-99D6-04658ED1A72D}" destId="{08E12E74-CAD6-419B-8194-82D6472755B1}" srcOrd="0" destOrd="0" presId="urn:microsoft.com/office/officeart/2008/layout/LinedList"/>
    <dgm:cxn modelId="{35F02264-7F3C-45E0-94E5-D22402D04959}" type="presParOf" srcId="{FC1F28F7-FF48-4941-99D6-04658ED1A72D}" destId="{B610A76B-7DAE-4E49-8965-D2C07128AA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2C6DA-4071-403A-91D3-279646B6DAC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174487-EE7E-4D79-9F8A-26FE66297A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model accuracy and robustness </a:t>
          </a:r>
          <a:endParaRPr lang="en-US" dirty="0"/>
        </a:p>
      </dgm:t>
    </dgm:pt>
    <dgm:pt modelId="{60E55A6B-8B12-47B2-8639-BCFC38B6D5D6}" type="parTrans" cxnId="{4A57D019-FBA7-425C-B4CA-6339F6B1C8E1}">
      <dgm:prSet/>
      <dgm:spPr/>
      <dgm:t>
        <a:bodyPr/>
        <a:lstStyle/>
        <a:p>
          <a:endParaRPr lang="en-US"/>
        </a:p>
      </dgm:t>
    </dgm:pt>
    <dgm:pt modelId="{28D51212-DC7F-4B88-A1A1-01204F0DA511}" type="sibTrans" cxnId="{4A57D019-FBA7-425C-B4CA-6339F6B1C8E1}">
      <dgm:prSet/>
      <dgm:spPr/>
      <dgm:t>
        <a:bodyPr/>
        <a:lstStyle/>
        <a:p>
          <a:endParaRPr lang="en-US"/>
        </a:p>
      </dgm:t>
    </dgm:pt>
    <dgm:pt modelId="{C7B213E0-A2FB-47F4-B9A3-AA47EC6A3B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using post trained with object detection while new items/ ingredients are found </a:t>
          </a:r>
          <a:endParaRPr lang="en-US" dirty="0"/>
        </a:p>
      </dgm:t>
    </dgm:pt>
    <dgm:pt modelId="{ED2D1322-7758-4A64-99DA-C5CEE159D0B3}" type="parTrans" cxnId="{AA788A9A-4165-47EE-9133-6793C4E7B6E0}">
      <dgm:prSet/>
      <dgm:spPr/>
      <dgm:t>
        <a:bodyPr/>
        <a:lstStyle/>
        <a:p>
          <a:endParaRPr lang="en-US"/>
        </a:p>
      </dgm:t>
    </dgm:pt>
    <dgm:pt modelId="{79EAD6C1-2FD4-4554-A100-F25A86A38CF2}" type="sibTrans" cxnId="{AA788A9A-4165-47EE-9133-6793C4E7B6E0}">
      <dgm:prSet/>
      <dgm:spPr/>
      <dgm:t>
        <a:bodyPr/>
        <a:lstStyle/>
        <a:p>
          <a:endParaRPr lang="en-US"/>
        </a:p>
      </dgm:t>
    </dgm:pt>
    <dgm:pt modelId="{85B325C5-E500-43BF-9959-7F4C3D7EB014}" type="pres">
      <dgm:prSet presAssocID="{A322C6DA-4071-403A-91D3-279646B6DAC1}" presName="root" presStyleCnt="0">
        <dgm:presLayoutVars>
          <dgm:dir/>
          <dgm:resizeHandles val="exact"/>
        </dgm:presLayoutVars>
      </dgm:prSet>
      <dgm:spPr/>
    </dgm:pt>
    <dgm:pt modelId="{BCA0BDBB-25FD-4F60-836C-1F4B008E86F7}" type="pres">
      <dgm:prSet presAssocID="{EE174487-EE7E-4D79-9F8A-26FE66297A65}" presName="compNode" presStyleCnt="0"/>
      <dgm:spPr/>
    </dgm:pt>
    <dgm:pt modelId="{1FC5A23A-37DA-44B2-85B0-289665EAFE81}" type="pres">
      <dgm:prSet presAssocID="{EE174487-EE7E-4D79-9F8A-26FE66297A6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9E82C94-EA07-4159-A334-7C8AE8C91602}" type="pres">
      <dgm:prSet presAssocID="{EE174487-EE7E-4D79-9F8A-26FE66297A65}" presName="spaceRect" presStyleCnt="0"/>
      <dgm:spPr/>
    </dgm:pt>
    <dgm:pt modelId="{C870B368-A1C7-46C6-9E8F-8AF84A6B0144}" type="pres">
      <dgm:prSet presAssocID="{EE174487-EE7E-4D79-9F8A-26FE66297A65}" presName="textRect" presStyleLbl="revTx" presStyleIdx="0" presStyleCnt="2">
        <dgm:presLayoutVars>
          <dgm:chMax val="1"/>
          <dgm:chPref val="1"/>
        </dgm:presLayoutVars>
      </dgm:prSet>
      <dgm:spPr/>
    </dgm:pt>
    <dgm:pt modelId="{F03F3E32-CCBA-4EEF-BDF1-E1B16DDF79A4}" type="pres">
      <dgm:prSet presAssocID="{28D51212-DC7F-4B88-A1A1-01204F0DA511}" presName="sibTrans" presStyleCnt="0"/>
      <dgm:spPr/>
    </dgm:pt>
    <dgm:pt modelId="{549B2466-B5C0-40F9-B59B-053A9E4E2DAB}" type="pres">
      <dgm:prSet presAssocID="{C7B213E0-A2FB-47F4-B9A3-AA47EC6A3BCC}" presName="compNode" presStyleCnt="0"/>
      <dgm:spPr/>
    </dgm:pt>
    <dgm:pt modelId="{F4D33BB5-E21C-4756-A44D-B093EFF3168E}" type="pres">
      <dgm:prSet presAssocID="{C7B213E0-A2FB-47F4-B9A3-AA47EC6A3BC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9320F24B-2F64-498C-90E5-1002B42A4D8F}" type="pres">
      <dgm:prSet presAssocID="{C7B213E0-A2FB-47F4-B9A3-AA47EC6A3BCC}" presName="spaceRect" presStyleCnt="0"/>
      <dgm:spPr/>
    </dgm:pt>
    <dgm:pt modelId="{F8E88845-0919-415D-93D6-D20563CBFE7B}" type="pres">
      <dgm:prSet presAssocID="{C7B213E0-A2FB-47F4-B9A3-AA47EC6A3BC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57D019-FBA7-425C-B4CA-6339F6B1C8E1}" srcId="{A322C6DA-4071-403A-91D3-279646B6DAC1}" destId="{EE174487-EE7E-4D79-9F8A-26FE66297A65}" srcOrd="0" destOrd="0" parTransId="{60E55A6B-8B12-47B2-8639-BCFC38B6D5D6}" sibTransId="{28D51212-DC7F-4B88-A1A1-01204F0DA511}"/>
    <dgm:cxn modelId="{058F8D2B-E0DF-4068-B836-4C4053F34C45}" type="presOf" srcId="{A322C6DA-4071-403A-91D3-279646B6DAC1}" destId="{85B325C5-E500-43BF-9959-7F4C3D7EB014}" srcOrd="0" destOrd="0" presId="urn:microsoft.com/office/officeart/2018/2/layout/IconLabelList"/>
    <dgm:cxn modelId="{50C6BE64-ED27-4126-8C82-2ECC9061984B}" type="presOf" srcId="{EE174487-EE7E-4D79-9F8A-26FE66297A65}" destId="{C870B368-A1C7-46C6-9E8F-8AF84A6B0144}" srcOrd="0" destOrd="0" presId="urn:microsoft.com/office/officeart/2018/2/layout/IconLabelList"/>
    <dgm:cxn modelId="{AA788A9A-4165-47EE-9133-6793C4E7B6E0}" srcId="{A322C6DA-4071-403A-91D3-279646B6DAC1}" destId="{C7B213E0-A2FB-47F4-B9A3-AA47EC6A3BCC}" srcOrd="1" destOrd="0" parTransId="{ED2D1322-7758-4A64-99DA-C5CEE159D0B3}" sibTransId="{79EAD6C1-2FD4-4554-A100-F25A86A38CF2}"/>
    <dgm:cxn modelId="{6CBDF4B4-0BD1-418E-8C7C-3FBD0892E5BB}" type="presOf" srcId="{C7B213E0-A2FB-47F4-B9A3-AA47EC6A3BCC}" destId="{F8E88845-0919-415D-93D6-D20563CBFE7B}" srcOrd="0" destOrd="0" presId="urn:microsoft.com/office/officeart/2018/2/layout/IconLabelList"/>
    <dgm:cxn modelId="{FF834A84-D5BE-41F2-9062-D4A51839C1C6}" type="presParOf" srcId="{85B325C5-E500-43BF-9959-7F4C3D7EB014}" destId="{BCA0BDBB-25FD-4F60-836C-1F4B008E86F7}" srcOrd="0" destOrd="0" presId="urn:microsoft.com/office/officeart/2018/2/layout/IconLabelList"/>
    <dgm:cxn modelId="{4BF7B2B1-3348-4052-BFF4-BFDA50BBC2F9}" type="presParOf" srcId="{BCA0BDBB-25FD-4F60-836C-1F4B008E86F7}" destId="{1FC5A23A-37DA-44B2-85B0-289665EAFE81}" srcOrd="0" destOrd="0" presId="urn:microsoft.com/office/officeart/2018/2/layout/IconLabelList"/>
    <dgm:cxn modelId="{09E1CC0A-5257-4F67-9CE7-265148C1F4FF}" type="presParOf" srcId="{BCA0BDBB-25FD-4F60-836C-1F4B008E86F7}" destId="{A9E82C94-EA07-4159-A334-7C8AE8C91602}" srcOrd="1" destOrd="0" presId="urn:microsoft.com/office/officeart/2018/2/layout/IconLabelList"/>
    <dgm:cxn modelId="{69CCB786-13B7-40A2-827B-CB3AD9AF8B97}" type="presParOf" srcId="{BCA0BDBB-25FD-4F60-836C-1F4B008E86F7}" destId="{C870B368-A1C7-46C6-9E8F-8AF84A6B0144}" srcOrd="2" destOrd="0" presId="urn:microsoft.com/office/officeart/2018/2/layout/IconLabelList"/>
    <dgm:cxn modelId="{8F242AE9-364D-4536-8F36-2268E26EA2DD}" type="presParOf" srcId="{85B325C5-E500-43BF-9959-7F4C3D7EB014}" destId="{F03F3E32-CCBA-4EEF-BDF1-E1B16DDF79A4}" srcOrd="1" destOrd="0" presId="urn:microsoft.com/office/officeart/2018/2/layout/IconLabelList"/>
    <dgm:cxn modelId="{BB7065E2-FCC3-46C2-9319-2AB439212139}" type="presParOf" srcId="{85B325C5-E500-43BF-9959-7F4C3D7EB014}" destId="{549B2466-B5C0-40F9-B59B-053A9E4E2DAB}" srcOrd="2" destOrd="0" presId="urn:microsoft.com/office/officeart/2018/2/layout/IconLabelList"/>
    <dgm:cxn modelId="{509C0790-7F79-42A3-A09B-2B8124D3C0A4}" type="presParOf" srcId="{549B2466-B5C0-40F9-B59B-053A9E4E2DAB}" destId="{F4D33BB5-E21C-4756-A44D-B093EFF3168E}" srcOrd="0" destOrd="0" presId="urn:microsoft.com/office/officeart/2018/2/layout/IconLabelList"/>
    <dgm:cxn modelId="{F7766CB8-67DB-43C7-BFB7-D373085DB617}" type="presParOf" srcId="{549B2466-B5C0-40F9-B59B-053A9E4E2DAB}" destId="{9320F24B-2F64-498C-90E5-1002B42A4D8F}" srcOrd="1" destOrd="0" presId="urn:microsoft.com/office/officeart/2018/2/layout/IconLabelList"/>
    <dgm:cxn modelId="{7802CA88-B390-4BFD-9613-534C4BB6C140}" type="presParOf" srcId="{549B2466-B5C0-40F9-B59B-053A9E4E2DAB}" destId="{F8E88845-0919-415D-93D6-D20563CBFE7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04156C-6760-4AD5-B0FF-46D893608CF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C29FA9F-DC15-4941-869A-9FB882508BED}">
      <dgm:prSet/>
      <dgm:spPr/>
      <dgm:t>
        <a:bodyPr/>
        <a:lstStyle/>
        <a:p>
          <a:r>
            <a:rPr lang="en-US" b="0" i="0" baseline="0"/>
            <a:t>Enhanced transparency and trust in food preparation processes</a:t>
          </a:r>
          <a:endParaRPr lang="en-US"/>
        </a:p>
      </dgm:t>
    </dgm:pt>
    <dgm:pt modelId="{2472797F-73F5-4DBB-95D6-8D6C5484B1F5}" type="parTrans" cxnId="{6C111DF9-6071-4062-97C7-5AD72CA3C227}">
      <dgm:prSet/>
      <dgm:spPr/>
      <dgm:t>
        <a:bodyPr/>
        <a:lstStyle/>
        <a:p>
          <a:endParaRPr lang="en-US"/>
        </a:p>
      </dgm:t>
    </dgm:pt>
    <dgm:pt modelId="{285E3826-4806-4304-A6A0-1DC7F9AD0848}" type="sibTrans" cxnId="{6C111DF9-6071-4062-97C7-5AD72CA3C227}">
      <dgm:prSet/>
      <dgm:spPr/>
      <dgm:t>
        <a:bodyPr/>
        <a:lstStyle/>
        <a:p>
          <a:endParaRPr lang="en-US"/>
        </a:p>
      </dgm:t>
    </dgm:pt>
    <dgm:pt modelId="{06B21C47-A88E-4F58-8E4B-35D68B97A3E4}">
      <dgm:prSet/>
      <dgm:spPr/>
      <dgm:t>
        <a:bodyPr/>
        <a:lstStyle/>
        <a:p>
          <a:r>
            <a:rPr lang="en-US" b="0" i="0" baseline="0"/>
            <a:t>Improved efficiency and monitoring capabilities for restaurants</a:t>
          </a:r>
          <a:endParaRPr lang="en-US"/>
        </a:p>
      </dgm:t>
    </dgm:pt>
    <dgm:pt modelId="{25A5309D-4CD2-40D5-BFF9-510E9F31132F}" type="parTrans" cxnId="{A72CFD48-B321-49B3-9594-5A8DB8C7112B}">
      <dgm:prSet/>
      <dgm:spPr/>
      <dgm:t>
        <a:bodyPr/>
        <a:lstStyle/>
        <a:p>
          <a:endParaRPr lang="en-US"/>
        </a:p>
      </dgm:t>
    </dgm:pt>
    <dgm:pt modelId="{9324A706-B14A-4A1A-B1C0-EEB1349B6395}" type="sibTrans" cxnId="{A72CFD48-B321-49B3-9594-5A8DB8C7112B}">
      <dgm:prSet/>
      <dgm:spPr/>
      <dgm:t>
        <a:bodyPr/>
        <a:lstStyle/>
        <a:p>
          <a:endParaRPr lang="en-US"/>
        </a:p>
      </dgm:t>
    </dgm:pt>
    <dgm:pt modelId="{D73C1C6D-6890-4D7F-9C60-613D77C5154C}">
      <dgm:prSet/>
      <dgm:spPr/>
      <dgm:t>
        <a:bodyPr/>
        <a:lstStyle/>
        <a:p>
          <a:r>
            <a:rPr lang="en-US" b="0" i="0" baseline="0"/>
            <a:t>Increased customer engagement and satisfaction</a:t>
          </a:r>
          <a:endParaRPr lang="en-US"/>
        </a:p>
      </dgm:t>
    </dgm:pt>
    <dgm:pt modelId="{2A2F9B77-3124-4E70-8A26-10D43844F548}" type="parTrans" cxnId="{16F0088F-C38E-4271-B12C-42F7E00229B4}">
      <dgm:prSet/>
      <dgm:spPr/>
      <dgm:t>
        <a:bodyPr/>
        <a:lstStyle/>
        <a:p>
          <a:endParaRPr lang="en-US"/>
        </a:p>
      </dgm:t>
    </dgm:pt>
    <dgm:pt modelId="{1C557680-DC21-48EC-974E-E9FE1956DFB4}" type="sibTrans" cxnId="{16F0088F-C38E-4271-B12C-42F7E00229B4}">
      <dgm:prSet/>
      <dgm:spPr/>
      <dgm:t>
        <a:bodyPr/>
        <a:lstStyle/>
        <a:p>
          <a:endParaRPr lang="en-US"/>
        </a:p>
      </dgm:t>
    </dgm:pt>
    <dgm:pt modelId="{4F44BDF2-3BE4-4563-9C6C-272995E0B529}" type="pres">
      <dgm:prSet presAssocID="{A904156C-6760-4AD5-B0FF-46D893608CFB}" presName="root" presStyleCnt="0">
        <dgm:presLayoutVars>
          <dgm:dir/>
          <dgm:resizeHandles val="exact"/>
        </dgm:presLayoutVars>
      </dgm:prSet>
      <dgm:spPr/>
    </dgm:pt>
    <dgm:pt modelId="{26544C57-4B08-4811-BC57-193784918D21}" type="pres">
      <dgm:prSet presAssocID="{A904156C-6760-4AD5-B0FF-46D893608CFB}" presName="container" presStyleCnt="0">
        <dgm:presLayoutVars>
          <dgm:dir/>
          <dgm:resizeHandles val="exact"/>
        </dgm:presLayoutVars>
      </dgm:prSet>
      <dgm:spPr/>
    </dgm:pt>
    <dgm:pt modelId="{F73AE38E-D9B0-4987-BF66-055B67E96811}" type="pres">
      <dgm:prSet presAssocID="{5C29FA9F-DC15-4941-869A-9FB882508BED}" presName="compNode" presStyleCnt="0"/>
      <dgm:spPr/>
    </dgm:pt>
    <dgm:pt modelId="{180ECA83-7F4F-4B42-AFCF-D24FF7D9C78F}" type="pres">
      <dgm:prSet presAssocID="{5C29FA9F-DC15-4941-869A-9FB882508BED}" presName="iconBgRect" presStyleLbl="bgShp" presStyleIdx="0" presStyleCnt="3"/>
      <dgm:spPr/>
    </dgm:pt>
    <dgm:pt modelId="{E0EF9765-F8D8-43C8-B990-62F86F621E88}" type="pres">
      <dgm:prSet presAssocID="{5C29FA9F-DC15-4941-869A-9FB882508BE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8AE6E9C9-9C6E-45A2-A7C0-699719D6C519}" type="pres">
      <dgm:prSet presAssocID="{5C29FA9F-DC15-4941-869A-9FB882508BED}" presName="spaceRect" presStyleCnt="0"/>
      <dgm:spPr/>
    </dgm:pt>
    <dgm:pt modelId="{F7A9481B-10F2-42E4-9504-CAB6B15F2416}" type="pres">
      <dgm:prSet presAssocID="{5C29FA9F-DC15-4941-869A-9FB882508BED}" presName="textRect" presStyleLbl="revTx" presStyleIdx="0" presStyleCnt="3">
        <dgm:presLayoutVars>
          <dgm:chMax val="1"/>
          <dgm:chPref val="1"/>
        </dgm:presLayoutVars>
      </dgm:prSet>
      <dgm:spPr/>
    </dgm:pt>
    <dgm:pt modelId="{23D441B1-1015-4E3B-99DC-437F5CBD85F7}" type="pres">
      <dgm:prSet presAssocID="{285E3826-4806-4304-A6A0-1DC7F9AD0848}" presName="sibTrans" presStyleLbl="sibTrans2D1" presStyleIdx="0" presStyleCnt="0"/>
      <dgm:spPr/>
    </dgm:pt>
    <dgm:pt modelId="{8421C29E-F58A-4A71-A871-7C03705507AC}" type="pres">
      <dgm:prSet presAssocID="{06B21C47-A88E-4F58-8E4B-35D68B97A3E4}" presName="compNode" presStyleCnt="0"/>
      <dgm:spPr/>
    </dgm:pt>
    <dgm:pt modelId="{BD9148D3-E437-42E9-9FFF-9368F7EE8A27}" type="pres">
      <dgm:prSet presAssocID="{06B21C47-A88E-4F58-8E4B-35D68B97A3E4}" presName="iconBgRect" presStyleLbl="bgShp" presStyleIdx="1" presStyleCnt="3"/>
      <dgm:spPr/>
    </dgm:pt>
    <dgm:pt modelId="{86B7EABA-F29D-422C-95F6-D9CA927575F8}" type="pres">
      <dgm:prSet presAssocID="{06B21C47-A88E-4F58-8E4B-35D68B97A3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183478F-A8C3-47C7-9805-B20E3F6087F0}" type="pres">
      <dgm:prSet presAssocID="{06B21C47-A88E-4F58-8E4B-35D68B97A3E4}" presName="spaceRect" presStyleCnt="0"/>
      <dgm:spPr/>
    </dgm:pt>
    <dgm:pt modelId="{A89759A7-09E1-49FC-A1EC-D79038ED5C10}" type="pres">
      <dgm:prSet presAssocID="{06B21C47-A88E-4F58-8E4B-35D68B97A3E4}" presName="textRect" presStyleLbl="revTx" presStyleIdx="1" presStyleCnt="3">
        <dgm:presLayoutVars>
          <dgm:chMax val="1"/>
          <dgm:chPref val="1"/>
        </dgm:presLayoutVars>
      </dgm:prSet>
      <dgm:spPr/>
    </dgm:pt>
    <dgm:pt modelId="{1144100D-7FFF-49A5-B49F-25415D10465A}" type="pres">
      <dgm:prSet presAssocID="{9324A706-B14A-4A1A-B1C0-EEB1349B6395}" presName="sibTrans" presStyleLbl="sibTrans2D1" presStyleIdx="0" presStyleCnt="0"/>
      <dgm:spPr/>
    </dgm:pt>
    <dgm:pt modelId="{586462A0-5FF9-4091-943E-F1F6EC881726}" type="pres">
      <dgm:prSet presAssocID="{D73C1C6D-6890-4D7F-9C60-613D77C5154C}" presName="compNode" presStyleCnt="0"/>
      <dgm:spPr/>
    </dgm:pt>
    <dgm:pt modelId="{56E7AF95-E382-4759-B92E-404E58B915B8}" type="pres">
      <dgm:prSet presAssocID="{D73C1C6D-6890-4D7F-9C60-613D77C5154C}" presName="iconBgRect" presStyleLbl="bgShp" presStyleIdx="2" presStyleCnt="3"/>
      <dgm:spPr/>
    </dgm:pt>
    <dgm:pt modelId="{ED8A8723-BEF6-49C8-A080-EAB24ABF2D89}" type="pres">
      <dgm:prSet presAssocID="{D73C1C6D-6890-4D7F-9C60-613D77C515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ADA90E6-ADAC-42B4-B8D3-A685E3147A94}" type="pres">
      <dgm:prSet presAssocID="{D73C1C6D-6890-4D7F-9C60-613D77C5154C}" presName="spaceRect" presStyleCnt="0"/>
      <dgm:spPr/>
    </dgm:pt>
    <dgm:pt modelId="{6B209E67-D23B-4EE4-A280-8226A4EB61B3}" type="pres">
      <dgm:prSet presAssocID="{D73C1C6D-6890-4D7F-9C60-613D77C5154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CDDFE43-D834-4898-8A56-7197076F0960}" type="presOf" srcId="{06B21C47-A88E-4F58-8E4B-35D68B97A3E4}" destId="{A89759A7-09E1-49FC-A1EC-D79038ED5C10}" srcOrd="0" destOrd="0" presId="urn:microsoft.com/office/officeart/2018/2/layout/IconCircleList"/>
    <dgm:cxn modelId="{A72CFD48-B321-49B3-9594-5A8DB8C7112B}" srcId="{A904156C-6760-4AD5-B0FF-46D893608CFB}" destId="{06B21C47-A88E-4F58-8E4B-35D68B97A3E4}" srcOrd="1" destOrd="0" parTransId="{25A5309D-4CD2-40D5-BFF9-510E9F31132F}" sibTransId="{9324A706-B14A-4A1A-B1C0-EEB1349B6395}"/>
    <dgm:cxn modelId="{FB5AE272-31F2-4A5B-A1C0-17D42BA39914}" type="presOf" srcId="{285E3826-4806-4304-A6A0-1DC7F9AD0848}" destId="{23D441B1-1015-4E3B-99DC-437F5CBD85F7}" srcOrd="0" destOrd="0" presId="urn:microsoft.com/office/officeart/2018/2/layout/IconCircleList"/>
    <dgm:cxn modelId="{16F0088F-C38E-4271-B12C-42F7E00229B4}" srcId="{A904156C-6760-4AD5-B0FF-46D893608CFB}" destId="{D73C1C6D-6890-4D7F-9C60-613D77C5154C}" srcOrd="2" destOrd="0" parTransId="{2A2F9B77-3124-4E70-8A26-10D43844F548}" sibTransId="{1C557680-DC21-48EC-974E-E9FE1956DFB4}"/>
    <dgm:cxn modelId="{BF3FD4A8-A526-4D6F-BBFF-5841174954BB}" type="presOf" srcId="{A904156C-6760-4AD5-B0FF-46D893608CFB}" destId="{4F44BDF2-3BE4-4563-9C6C-272995E0B529}" srcOrd="0" destOrd="0" presId="urn:microsoft.com/office/officeart/2018/2/layout/IconCircleList"/>
    <dgm:cxn modelId="{C5430BDD-9366-4256-B679-B3ECEEC4C597}" type="presOf" srcId="{5C29FA9F-DC15-4941-869A-9FB882508BED}" destId="{F7A9481B-10F2-42E4-9504-CAB6B15F2416}" srcOrd="0" destOrd="0" presId="urn:microsoft.com/office/officeart/2018/2/layout/IconCircleList"/>
    <dgm:cxn modelId="{F15711F5-D406-419D-8D0F-2CAD5FB6CE3F}" type="presOf" srcId="{D73C1C6D-6890-4D7F-9C60-613D77C5154C}" destId="{6B209E67-D23B-4EE4-A280-8226A4EB61B3}" srcOrd="0" destOrd="0" presId="urn:microsoft.com/office/officeart/2018/2/layout/IconCircleList"/>
    <dgm:cxn modelId="{6C111DF9-6071-4062-97C7-5AD72CA3C227}" srcId="{A904156C-6760-4AD5-B0FF-46D893608CFB}" destId="{5C29FA9F-DC15-4941-869A-9FB882508BED}" srcOrd="0" destOrd="0" parTransId="{2472797F-73F5-4DBB-95D6-8D6C5484B1F5}" sibTransId="{285E3826-4806-4304-A6A0-1DC7F9AD0848}"/>
    <dgm:cxn modelId="{A02A8EFC-AE28-49C0-A2E7-81C33770F0D4}" type="presOf" srcId="{9324A706-B14A-4A1A-B1C0-EEB1349B6395}" destId="{1144100D-7FFF-49A5-B49F-25415D10465A}" srcOrd="0" destOrd="0" presId="urn:microsoft.com/office/officeart/2018/2/layout/IconCircleList"/>
    <dgm:cxn modelId="{79467258-9B8B-4A2C-B387-45CB8203CED5}" type="presParOf" srcId="{4F44BDF2-3BE4-4563-9C6C-272995E0B529}" destId="{26544C57-4B08-4811-BC57-193784918D21}" srcOrd="0" destOrd="0" presId="urn:microsoft.com/office/officeart/2018/2/layout/IconCircleList"/>
    <dgm:cxn modelId="{DC2BC4A8-F4D5-4F43-99CC-C0892707F538}" type="presParOf" srcId="{26544C57-4B08-4811-BC57-193784918D21}" destId="{F73AE38E-D9B0-4987-BF66-055B67E96811}" srcOrd="0" destOrd="0" presId="urn:microsoft.com/office/officeart/2018/2/layout/IconCircleList"/>
    <dgm:cxn modelId="{EE393FF4-D065-4013-8A96-012A2795B0EA}" type="presParOf" srcId="{F73AE38E-D9B0-4987-BF66-055B67E96811}" destId="{180ECA83-7F4F-4B42-AFCF-D24FF7D9C78F}" srcOrd="0" destOrd="0" presId="urn:microsoft.com/office/officeart/2018/2/layout/IconCircleList"/>
    <dgm:cxn modelId="{D2AE4A49-A270-4B8D-9D96-1B8CD6CB2DE1}" type="presParOf" srcId="{F73AE38E-D9B0-4987-BF66-055B67E96811}" destId="{E0EF9765-F8D8-43C8-B990-62F86F621E88}" srcOrd="1" destOrd="0" presId="urn:microsoft.com/office/officeart/2018/2/layout/IconCircleList"/>
    <dgm:cxn modelId="{4936A83B-7AAE-49BD-8A78-98EF5A3C1D6D}" type="presParOf" srcId="{F73AE38E-D9B0-4987-BF66-055B67E96811}" destId="{8AE6E9C9-9C6E-45A2-A7C0-699719D6C519}" srcOrd="2" destOrd="0" presId="urn:microsoft.com/office/officeart/2018/2/layout/IconCircleList"/>
    <dgm:cxn modelId="{BC731125-FE1A-4E5E-A9E3-823B8BFB6442}" type="presParOf" srcId="{F73AE38E-D9B0-4987-BF66-055B67E96811}" destId="{F7A9481B-10F2-42E4-9504-CAB6B15F2416}" srcOrd="3" destOrd="0" presId="urn:microsoft.com/office/officeart/2018/2/layout/IconCircleList"/>
    <dgm:cxn modelId="{CA166311-D19E-469A-AA9C-657061937CA1}" type="presParOf" srcId="{26544C57-4B08-4811-BC57-193784918D21}" destId="{23D441B1-1015-4E3B-99DC-437F5CBD85F7}" srcOrd="1" destOrd="0" presId="urn:microsoft.com/office/officeart/2018/2/layout/IconCircleList"/>
    <dgm:cxn modelId="{7E72C6D2-C9A5-496E-80A9-74889CDE241F}" type="presParOf" srcId="{26544C57-4B08-4811-BC57-193784918D21}" destId="{8421C29E-F58A-4A71-A871-7C03705507AC}" srcOrd="2" destOrd="0" presId="urn:microsoft.com/office/officeart/2018/2/layout/IconCircleList"/>
    <dgm:cxn modelId="{ED6259A1-7E3C-4625-AF04-03A9BF283668}" type="presParOf" srcId="{8421C29E-F58A-4A71-A871-7C03705507AC}" destId="{BD9148D3-E437-42E9-9FFF-9368F7EE8A27}" srcOrd="0" destOrd="0" presId="urn:microsoft.com/office/officeart/2018/2/layout/IconCircleList"/>
    <dgm:cxn modelId="{833D0F3C-DBA9-437A-AF29-5E1D54A77457}" type="presParOf" srcId="{8421C29E-F58A-4A71-A871-7C03705507AC}" destId="{86B7EABA-F29D-422C-95F6-D9CA927575F8}" srcOrd="1" destOrd="0" presId="urn:microsoft.com/office/officeart/2018/2/layout/IconCircleList"/>
    <dgm:cxn modelId="{878A165A-DBD8-4886-B1D0-0FC0BED37C4B}" type="presParOf" srcId="{8421C29E-F58A-4A71-A871-7C03705507AC}" destId="{1183478F-A8C3-47C7-9805-B20E3F6087F0}" srcOrd="2" destOrd="0" presId="urn:microsoft.com/office/officeart/2018/2/layout/IconCircleList"/>
    <dgm:cxn modelId="{2B9A5414-D05A-400B-9570-8BF5509DF453}" type="presParOf" srcId="{8421C29E-F58A-4A71-A871-7C03705507AC}" destId="{A89759A7-09E1-49FC-A1EC-D79038ED5C10}" srcOrd="3" destOrd="0" presId="urn:microsoft.com/office/officeart/2018/2/layout/IconCircleList"/>
    <dgm:cxn modelId="{F96C60C7-FFCB-4A3F-9773-157A64ACCD46}" type="presParOf" srcId="{26544C57-4B08-4811-BC57-193784918D21}" destId="{1144100D-7FFF-49A5-B49F-25415D10465A}" srcOrd="3" destOrd="0" presId="urn:microsoft.com/office/officeart/2018/2/layout/IconCircleList"/>
    <dgm:cxn modelId="{C099EFA9-CBA5-44BC-B834-6B13AF858A93}" type="presParOf" srcId="{26544C57-4B08-4811-BC57-193784918D21}" destId="{586462A0-5FF9-4091-943E-F1F6EC881726}" srcOrd="4" destOrd="0" presId="urn:microsoft.com/office/officeart/2018/2/layout/IconCircleList"/>
    <dgm:cxn modelId="{5EBFBF35-6E0A-4990-81EF-8932F935B3E7}" type="presParOf" srcId="{586462A0-5FF9-4091-943E-F1F6EC881726}" destId="{56E7AF95-E382-4759-B92E-404E58B915B8}" srcOrd="0" destOrd="0" presId="urn:microsoft.com/office/officeart/2018/2/layout/IconCircleList"/>
    <dgm:cxn modelId="{DF08CFAB-2176-41EC-94CC-7963863D3458}" type="presParOf" srcId="{586462A0-5FF9-4091-943E-F1F6EC881726}" destId="{ED8A8723-BEF6-49C8-A080-EAB24ABF2D89}" srcOrd="1" destOrd="0" presId="urn:microsoft.com/office/officeart/2018/2/layout/IconCircleList"/>
    <dgm:cxn modelId="{D269D765-D49E-40BE-B3C1-933CADE0C73E}" type="presParOf" srcId="{586462A0-5FF9-4091-943E-F1F6EC881726}" destId="{BADA90E6-ADAC-42B4-B8D3-A685E3147A94}" srcOrd="2" destOrd="0" presId="urn:microsoft.com/office/officeart/2018/2/layout/IconCircleList"/>
    <dgm:cxn modelId="{A85DE685-5A6E-4691-9F87-5507D1C723E0}" type="presParOf" srcId="{586462A0-5FF9-4091-943E-F1F6EC881726}" destId="{6B209E67-D23B-4EE4-A280-8226A4EB61B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0C08E-90B9-473A-9E81-AD0D90A3F018}">
      <dsp:nvSpPr>
        <dsp:cNvPr id="0" name=""/>
        <dsp:cNvSpPr/>
      </dsp:nvSpPr>
      <dsp:spPr>
        <a:xfrm>
          <a:off x="0" y="1943"/>
          <a:ext cx="455942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414609-5B47-4D81-9292-C81317191F9C}">
      <dsp:nvSpPr>
        <dsp:cNvPr id="0" name=""/>
        <dsp:cNvSpPr/>
      </dsp:nvSpPr>
      <dsp:spPr>
        <a:xfrm>
          <a:off x="0" y="1943"/>
          <a:ext cx="4559425" cy="1325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VR/AR food preparation monitoring systems.</a:t>
          </a:r>
          <a:endParaRPr lang="en-US" sz="2000" kern="1200" dirty="0"/>
        </a:p>
      </dsp:txBody>
      <dsp:txXfrm>
        <a:off x="0" y="1943"/>
        <a:ext cx="4559425" cy="1325232"/>
      </dsp:txXfrm>
    </dsp:sp>
    <dsp:sp modelId="{85ABAE63-F894-4F5B-A32C-65A542E5CDDB}">
      <dsp:nvSpPr>
        <dsp:cNvPr id="0" name=""/>
        <dsp:cNvSpPr/>
      </dsp:nvSpPr>
      <dsp:spPr>
        <a:xfrm>
          <a:off x="0" y="1327176"/>
          <a:ext cx="455942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6DB9AD-112E-4BB2-A59C-7D5664E5199A}">
      <dsp:nvSpPr>
        <dsp:cNvPr id="0" name=""/>
        <dsp:cNvSpPr/>
      </dsp:nvSpPr>
      <dsp:spPr>
        <a:xfrm>
          <a:off x="0" y="1327176"/>
          <a:ext cx="4559425" cy="1325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core functionalities of the proposed system.</a:t>
          </a:r>
          <a:endParaRPr lang="en-US" sz="2000" kern="1200"/>
        </a:p>
      </dsp:txBody>
      <dsp:txXfrm>
        <a:off x="0" y="1327176"/>
        <a:ext cx="4559425" cy="1325232"/>
      </dsp:txXfrm>
    </dsp:sp>
    <dsp:sp modelId="{9A9F886F-0BF6-4AD2-8301-A6B3D37F2D44}">
      <dsp:nvSpPr>
        <dsp:cNvPr id="0" name=""/>
        <dsp:cNvSpPr/>
      </dsp:nvSpPr>
      <dsp:spPr>
        <a:xfrm>
          <a:off x="0" y="2652408"/>
          <a:ext cx="455942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E12E74-CAD6-419B-8194-82D6472755B1}">
      <dsp:nvSpPr>
        <dsp:cNvPr id="0" name=""/>
        <dsp:cNvSpPr/>
      </dsp:nvSpPr>
      <dsp:spPr>
        <a:xfrm>
          <a:off x="0" y="2652408"/>
          <a:ext cx="4559425" cy="1325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the benefits for restaurants (increased transparency, improved efficiency) and customers (enhanced trust, visual engagement).</a:t>
          </a:r>
          <a:endParaRPr lang="en-US" sz="2000" kern="1200" dirty="0"/>
        </a:p>
      </dsp:txBody>
      <dsp:txXfrm>
        <a:off x="0" y="2652408"/>
        <a:ext cx="4559425" cy="1325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5A23A-37DA-44B2-85B0-289665EAFE81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0B368-A1C7-46C6-9E8F-8AF84A6B0144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model accuracy and robustness </a:t>
          </a:r>
          <a:endParaRPr lang="en-US" sz="2000" kern="1200" dirty="0"/>
        </a:p>
      </dsp:txBody>
      <dsp:txXfrm>
        <a:off x="559800" y="3022743"/>
        <a:ext cx="4320000" cy="720000"/>
      </dsp:txXfrm>
    </dsp:sp>
    <dsp:sp modelId="{F4D33BB5-E21C-4756-A44D-B093EFF3168E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88845-0919-415D-93D6-D20563CBFE7B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using post trained with object detection while new items/ ingredients are found </a:t>
          </a:r>
          <a:endParaRPr lang="en-US" sz="2000" kern="1200" dirty="0"/>
        </a:p>
      </dsp:txBody>
      <dsp:txXfrm>
        <a:off x="5635800" y="302274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ECA83-7F4F-4B42-AFCF-D24FF7D9C78F}">
      <dsp:nvSpPr>
        <dsp:cNvPr id="0" name=""/>
        <dsp:cNvSpPr/>
      </dsp:nvSpPr>
      <dsp:spPr>
        <a:xfrm>
          <a:off x="41722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F9765-F8D8-43C8-B990-62F86F621E88}">
      <dsp:nvSpPr>
        <dsp:cNvPr id="0" name=""/>
        <dsp:cNvSpPr/>
      </dsp:nvSpPr>
      <dsp:spPr>
        <a:xfrm>
          <a:off x="229135" y="1346141"/>
          <a:ext cx="517618" cy="5176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9481B-10F2-42E4-9504-CAB6B15F2416}">
      <dsp:nvSpPr>
        <dsp:cNvPr id="0" name=""/>
        <dsp:cNvSpPr/>
      </dsp:nvSpPr>
      <dsp:spPr>
        <a:xfrm>
          <a:off x="1125406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Enhanced transparency and trust in food preparation processes</a:t>
          </a:r>
          <a:endParaRPr lang="en-US" sz="1600" kern="1200"/>
        </a:p>
      </dsp:txBody>
      <dsp:txXfrm>
        <a:off x="1125406" y="1158728"/>
        <a:ext cx="2103621" cy="892445"/>
      </dsp:txXfrm>
    </dsp:sp>
    <dsp:sp modelId="{BD9148D3-E437-42E9-9FFF-9368F7EE8A27}">
      <dsp:nvSpPr>
        <dsp:cNvPr id="0" name=""/>
        <dsp:cNvSpPr/>
      </dsp:nvSpPr>
      <dsp:spPr>
        <a:xfrm>
          <a:off x="3595567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7EABA-F29D-422C-95F6-D9CA927575F8}">
      <dsp:nvSpPr>
        <dsp:cNvPr id="0" name=""/>
        <dsp:cNvSpPr/>
      </dsp:nvSpPr>
      <dsp:spPr>
        <a:xfrm>
          <a:off x="3782981" y="1346141"/>
          <a:ext cx="517618" cy="5176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759A7-09E1-49FC-A1EC-D79038ED5C10}">
      <dsp:nvSpPr>
        <dsp:cNvPr id="0" name=""/>
        <dsp:cNvSpPr/>
      </dsp:nvSpPr>
      <dsp:spPr>
        <a:xfrm>
          <a:off x="4679251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Improved efficiency and monitoring capabilities for restaurants</a:t>
          </a:r>
          <a:endParaRPr lang="en-US" sz="1600" kern="1200"/>
        </a:p>
      </dsp:txBody>
      <dsp:txXfrm>
        <a:off x="4679251" y="1158728"/>
        <a:ext cx="2103621" cy="892445"/>
      </dsp:txXfrm>
    </dsp:sp>
    <dsp:sp modelId="{56E7AF95-E382-4759-B92E-404E58B915B8}">
      <dsp:nvSpPr>
        <dsp:cNvPr id="0" name=""/>
        <dsp:cNvSpPr/>
      </dsp:nvSpPr>
      <dsp:spPr>
        <a:xfrm>
          <a:off x="7149412" y="1158728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A8723-BEF6-49C8-A080-EAB24ABF2D89}">
      <dsp:nvSpPr>
        <dsp:cNvPr id="0" name=""/>
        <dsp:cNvSpPr/>
      </dsp:nvSpPr>
      <dsp:spPr>
        <a:xfrm>
          <a:off x="7336826" y="1346141"/>
          <a:ext cx="517618" cy="5176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09E67-D23B-4EE4-A280-8226A4EB61B3}">
      <dsp:nvSpPr>
        <dsp:cNvPr id="0" name=""/>
        <dsp:cNvSpPr/>
      </dsp:nvSpPr>
      <dsp:spPr>
        <a:xfrm>
          <a:off x="8233096" y="1158728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Increased customer engagement and satisfaction</a:t>
          </a:r>
          <a:endParaRPr lang="en-US" sz="1600" kern="1200"/>
        </a:p>
      </dsp:txBody>
      <dsp:txXfrm>
        <a:off x="8233096" y="1158728"/>
        <a:ext cx="2103621" cy="892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C505-929B-B79A-BA77-8AD8A3E0D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F6CAC-F9A1-1068-E51B-20F5C04B3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A97D3-4874-8163-2593-F8F04B5F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D445-86F1-5D7D-2103-88B68357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A9E4-8DC0-12BC-8F60-1A4325F5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4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AB8D-E5E4-1E04-B0BE-F8E76AFE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ADCF1-7F7F-C340-0927-B7BAA25B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C42F1-D8BF-86D6-CED5-AC4C04D7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FAA7-42DA-35BB-2E91-4A1A3451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8152-18C5-BB54-977A-8525A1C6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580A-6E8C-E3D2-B507-AD39D575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C8375-CD11-60D2-F437-765FD9ED0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79810-C0DD-26FD-C0B5-856E111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A1CD-CFB3-3D61-DC86-AE231A11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9B8BB-53C4-8966-1434-0B0DDB67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2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9065-0DC4-21A7-8753-984D91C1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D0A15-947C-F12E-A015-6FC78E015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F217B-0D71-AFE8-EDDE-DDCF937DA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BCB69-2DE6-C7A2-E200-A45ADE6F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970E0-A31F-CC2E-4BAC-5168A610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47F8A-A24B-F4AB-2A29-7DEC9B46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2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E173-A69B-662E-7E7A-B5F443CE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2E175-EE24-7290-50FA-E717DC791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7DD14-450E-E38E-5A90-6FF516621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F335E-D673-80B6-FC87-F27DA63C5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219B9-F7BC-4B78-68A1-772780CBF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ED9FC-7655-35A3-DA19-A55F8B5D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0B1E1-CEDD-D7C2-A9D6-690ACA2A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FD5E1-0C3D-2FB0-2F0F-79F586A5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6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7873-9571-4011-3B8A-3F27C731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58B37-8795-BDCC-3A05-964030D2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5B450-F905-7997-ADD5-773E1E90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E1306-257E-3260-37A9-0D762191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2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2B8EF-F33A-25EB-1FF8-05BC1017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D452F-87B0-B6C8-F11A-86E01C8D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67A52-DBE2-937F-A363-E1A69715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6E55-A7F8-438F-110E-EAB7C7C0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4325-866C-A64B-7955-AD04C81B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0B2CD-2766-D451-0EE8-BE061A0B4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7014B-2F5F-6058-B592-375563D7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63ECE-B9B5-C42E-D9F1-2ED473376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71E0A-76C7-16D6-8FC5-31845040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78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2795-9FFE-9418-CDC9-29C19946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75C79-4BC9-84D0-F553-2E51E15F4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8ED9D-41C5-42F3-FDAE-E5842825E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ED925-ECA6-D3D4-1E85-00725F06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F8EDB-5EC5-38A0-1C7A-75BE60C8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96DF-0331-879D-8380-0A722212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8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B06B-EFEE-93CD-D4A0-DB3B5C38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69FE0-1A66-CB9B-D203-4077C5EFA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E04B2-45AA-0A59-3DD5-ED77AF718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328A8-8B8E-CEA6-D4FC-7C4E9A04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2A96D-1267-3DA3-DE0E-F06DB2FE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7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27503-A66B-2178-5005-11AF80FA0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CB681-7616-B6FD-314B-2C632D74A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C6C21-61ED-2B9A-8C8A-23277FDF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D8808-827E-7CB0-4C1C-E92C4498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61E29-3BD7-56B5-4120-061DACE3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43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2CF1-B4B0-B850-09A2-FBE39896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4B06F-F15F-0DE2-C79E-5A4C6ACA5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7F2A7-9D29-F37B-5566-C41A2273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F8AF-6FCE-4C96-9F41-57B932AEC9A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8CE3D-B7D2-DCD6-EF63-57C3D7A6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394D3-DE36-9542-DAA3-9AA7A152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F3AC8-52B4-4025-AB38-1D7ACB8C7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2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87674-D2CE-225A-6800-744A25393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98FDF-739D-BF54-0144-DE5CDE964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07B5-5D1E-EE29-13AA-FCD43C8BF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849B8-6CCF-4E02-A26A-39C510CD9BD6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CA50F-F28A-93B4-D5A1-06CC61676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A9D9-6FB0-1F6B-031E-F0C7C0918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63C4E-8587-41EE-98BE-08C69B91B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0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D0CCA-7FC3-DEC8-879B-1C726405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2500" b="1" i="0" u="none" strike="noStrike" baseline="0"/>
              <a:t>Virtual Kitchen Management: Machine Learning Object Detection and YOLO Model Integration in Restaurants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65DB0-9A19-1172-4D7B-49BAFCC08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Virtual Kitchen Management</a:t>
            </a:r>
          </a:p>
          <a:p>
            <a:pPr marR="0" lvl="0"/>
            <a:r>
              <a:rPr lang="en-US" sz="2000" b="0" i="0" u="none" strike="noStrike" baseline="0"/>
              <a:t>Date: 15 May 2024 </a:t>
            </a:r>
            <a:endParaRPr lang="en-US" sz="2000" b="0" i="0" u="none" strike="noStrike" baseline="0" dirty="0"/>
          </a:p>
        </p:txBody>
      </p:sp>
      <p:pic>
        <p:nvPicPr>
          <p:cNvPr id="5" name="Picture 4" descr="Woman peeking out a window">
            <a:extLst>
              <a:ext uri="{FF2B5EF4-FFF2-40B4-BE49-F238E27FC236}">
                <a16:creationId xmlns:a16="http://schemas.microsoft.com/office/drawing/2014/main" id="{79C0B0F0-E7A1-FD86-4B03-EB6EBE08D5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777" r="7822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7320DF1-E0ED-2E8F-8D8F-21AC12570C11}"/>
              </a:ext>
            </a:extLst>
          </p:cNvPr>
          <p:cNvSpPr/>
          <p:nvPr/>
        </p:nvSpPr>
        <p:spPr>
          <a:xfrm>
            <a:off x="10480672" y="146996"/>
            <a:ext cx="1543052" cy="1543053"/>
          </a:xfrm>
          <a:prstGeom prst="rect">
            <a:avLst/>
          </a:prstGeom>
          <a:blipFill dpi="0" rotWithShape="1">
            <a:blip r:embed="rId3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5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436FF-CC73-465F-35E8-A5EB8ED5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6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Virtual Kitchen Management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EBADB0-194C-8EC2-99F4-3DA793955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87427"/>
              </p:ext>
            </p:extLst>
          </p:nvPr>
        </p:nvGraphicFramePr>
        <p:xfrm>
          <a:off x="565848" y="2913697"/>
          <a:ext cx="11057256" cy="302590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{69012ECD-51FC-41F1-AA8D-1B2483CD663E}</a:tableStyleId>
              </a:tblPr>
              <a:tblGrid>
                <a:gridCol w="5729447">
                  <a:extLst>
                    <a:ext uri="{9D8B030D-6E8A-4147-A177-3AD203B41FA5}">
                      <a16:colId xmlns:a16="http://schemas.microsoft.com/office/drawing/2014/main" val="1017785762"/>
                    </a:ext>
                  </a:extLst>
                </a:gridCol>
                <a:gridCol w="5327809">
                  <a:extLst>
                    <a:ext uri="{9D8B030D-6E8A-4147-A177-3AD203B41FA5}">
                      <a16:colId xmlns:a16="http://schemas.microsoft.com/office/drawing/2014/main" val="1017047936"/>
                    </a:ext>
                  </a:extLst>
                </a:gridCol>
              </a:tblGrid>
              <a:tr h="1064514">
                <a:tc>
                  <a:txBody>
                    <a:bodyPr/>
                    <a:lstStyle/>
                    <a:p>
                      <a:r>
                        <a:rPr lang="en-US" sz="3900" b="0" cap="none" spc="0" dirty="0">
                          <a:solidFill>
                            <a:schemeClr val="bg1"/>
                          </a:solidFill>
                        </a:rPr>
                        <a:t>Supervisor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900" b="0" cap="none" spc="0">
                          <a:solidFill>
                            <a:schemeClr val="bg1"/>
                          </a:solidFill>
                        </a:rPr>
                        <a:t>External</a:t>
                      </a:r>
                    </a:p>
                  </a:txBody>
                  <a:tcPr marL="251460" marR="251460" marT="251460" marB="12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981251"/>
                  </a:ext>
                </a:extLst>
              </a:tr>
              <a:tr h="980694">
                <a:tc>
                  <a:txBody>
                    <a:bodyPr/>
                    <a:lstStyle/>
                    <a:p>
                      <a:r>
                        <a:rPr lang="en-US" sz="3300" cap="none" spc="0" dirty="0">
                          <a:solidFill>
                            <a:schemeClr val="tx1"/>
                          </a:solidFill>
                        </a:rPr>
                        <a:t>MD. MASUM BILLAH</a:t>
                      </a:r>
                    </a:p>
                  </a:txBody>
                  <a:tcPr marL="251460" marR="251460" marT="251460" marB="125730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300" cap="none" spc="0" dirty="0">
                          <a:solidFill>
                            <a:schemeClr val="tx1"/>
                          </a:solidFill>
                        </a:rPr>
                        <a:t>SYED NAFIUL SHEFAT</a:t>
                      </a:r>
                    </a:p>
                  </a:txBody>
                  <a:tcPr marL="251460" marR="251460" marT="251460" marB="12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386368"/>
                  </a:ext>
                </a:extLst>
              </a:tr>
              <a:tr h="980694">
                <a:tc>
                  <a:txBody>
                    <a:bodyPr/>
                    <a:lstStyle/>
                    <a:p>
                      <a:r>
                        <a:rPr lang="en-US" sz="3300" cap="none" spc="0" dirty="0">
                          <a:solidFill>
                            <a:schemeClr val="tx1"/>
                          </a:solidFill>
                        </a:rPr>
                        <a:t>billah.masumcu@aiub.edu</a:t>
                      </a:r>
                    </a:p>
                  </a:txBody>
                  <a:tcPr marL="251460" marR="251460" marT="251460" marB="125730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300" cap="none" spc="0" dirty="0">
                          <a:solidFill>
                            <a:schemeClr val="tx1"/>
                          </a:solidFill>
                        </a:rPr>
                        <a:t>nafiul.shefat@aiub.edu</a:t>
                      </a:r>
                    </a:p>
                  </a:txBody>
                  <a:tcPr marL="251460" marR="251460" marT="251460" marB="1257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0797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D328688-5178-387B-2804-391A2AEDE240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5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488AA-4D28-8CBF-AB78-87EA0B140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Thesis Member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AF03EC-56CB-2CFD-455D-59BAB130B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71350"/>
              </p:ext>
            </p:extLst>
          </p:nvPr>
        </p:nvGraphicFramePr>
        <p:xfrm>
          <a:off x="432223" y="1959540"/>
          <a:ext cx="11327550" cy="4285812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819603">
                  <a:extLst>
                    <a:ext uri="{9D8B030D-6E8A-4147-A177-3AD203B41FA5}">
                      <a16:colId xmlns:a16="http://schemas.microsoft.com/office/drawing/2014/main" val="3259960583"/>
                    </a:ext>
                  </a:extLst>
                </a:gridCol>
                <a:gridCol w="1908137">
                  <a:extLst>
                    <a:ext uri="{9D8B030D-6E8A-4147-A177-3AD203B41FA5}">
                      <a16:colId xmlns:a16="http://schemas.microsoft.com/office/drawing/2014/main" val="3234664441"/>
                    </a:ext>
                  </a:extLst>
                </a:gridCol>
                <a:gridCol w="4215057">
                  <a:extLst>
                    <a:ext uri="{9D8B030D-6E8A-4147-A177-3AD203B41FA5}">
                      <a16:colId xmlns:a16="http://schemas.microsoft.com/office/drawing/2014/main" val="459317732"/>
                    </a:ext>
                  </a:extLst>
                </a:gridCol>
                <a:gridCol w="2384753">
                  <a:extLst>
                    <a:ext uri="{9D8B030D-6E8A-4147-A177-3AD203B41FA5}">
                      <a16:colId xmlns:a16="http://schemas.microsoft.com/office/drawing/2014/main" val="2692475063"/>
                    </a:ext>
                  </a:extLst>
                </a:gridCol>
              </a:tblGrid>
              <a:tr h="669818"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183964" marR="141511" marT="141511" marB="14151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marL="183964" marR="141511" marT="141511" marB="14151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Email</a:t>
                      </a:r>
                    </a:p>
                  </a:txBody>
                  <a:tcPr marL="183964" marR="141511" marT="141511" marB="14151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cap="none" spc="0" dirty="0">
                          <a:solidFill>
                            <a:schemeClr val="bg1"/>
                          </a:solidFill>
                        </a:rPr>
                        <a:t>Author’s Portrait</a:t>
                      </a:r>
                    </a:p>
                  </a:txBody>
                  <a:tcPr marL="183964" marR="141511" marT="141511" marB="14151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172562"/>
                  </a:ext>
                </a:extLst>
              </a:tr>
              <a:tr h="900226">
                <a:tc>
                  <a:txBody>
                    <a:bodyPr/>
                    <a:lstStyle/>
                    <a:p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SAIFUL ISLAM</a:t>
                      </a:r>
                    </a:p>
                  </a:txBody>
                  <a:tcPr marL="183964" marR="141511" marT="141511" marB="14151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20-42667-1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20-42667-1@student.aiub.edu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987599"/>
                  </a:ext>
                </a:extLst>
              </a:tr>
              <a:tr h="1000010">
                <a:tc>
                  <a:txBody>
                    <a:bodyPr/>
                    <a:lstStyle/>
                    <a:p>
                      <a:r>
                        <a:rPr lang="en-US" sz="2200" b="0" i="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JABER MD OASIK​</a:t>
                      </a:r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20-42523-1​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20-42523-1​@student.aiub.edu</a:t>
                      </a:r>
                    </a:p>
                    <a:p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96110"/>
                  </a:ext>
                </a:extLst>
              </a:tr>
              <a:tr h="837934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Hasan, Md. </a:t>
                      </a:r>
                      <a:r>
                        <a:rPr lang="en-US" sz="2200" cap="none" spc="0" err="1">
                          <a:solidFill>
                            <a:schemeClr val="tx1"/>
                          </a:solidFill>
                        </a:rPr>
                        <a:t>Rakibul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marL="183964" marR="141511" marT="141511" marB="14151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17-35020-2​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17-35020-2</a:t>
                      </a:r>
                      <a:r>
                        <a:rPr lang="en-US" sz="22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@student.aiub.edu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66957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ABU ABDULLAH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20-43966-2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20-43966-2@student.aiub.edu</a:t>
                      </a: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3964" marR="141511" marT="141511" marB="14151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86045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C1AD3319-B3A4-85E1-0F1D-21FE325584DE}"/>
              </a:ext>
            </a:extLst>
          </p:cNvPr>
          <p:cNvSpPr/>
          <p:nvPr/>
        </p:nvSpPr>
        <p:spPr>
          <a:xfrm>
            <a:off x="10306518" y="2779956"/>
            <a:ext cx="612648" cy="61264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C0D42C-77AA-7F4C-33FD-0319447654DB}"/>
              </a:ext>
            </a:extLst>
          </p:cNvPr>
          <p:cNvSpPr/>
          <p:nvPr/>
        </p:nvSpPr>
        <p:spPr>
          <a:xfrm>
            <a:off x="10306518" y="3777834"/>
            <a:ext cx="612648" cy="61264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E0E43-8CD8-1C40-0F67-79F819E2488F}"/>
              </a:ext>
            </a:extLst>
          </p:cNvPr>
          <p:cNvSpPr/>
          <p:nvPr/>
        </p:nvSpPr>
        <p:spPr>
          <a:xfrm>
            <a:off x="10306518" y="4643790"/>
            <a:ext cx="612648" cy="612648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C255B-25EC-835A-E069-27345338BC5E}"/>
              </a:ext>
            </a:extLst>
          </p:cNvPr>
          <p:cNvSpPr/>
          <p:nvPr/>
        </p:nvSpPr>
        <p:spPr>
          <a:xfrm>
            <a:off x="10314432" y="5491653"/>
            <a:ext cx="612648" cy="612648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DCD31-8AB0-47E8-95F0-BC423844C8BC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6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76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4570A-D611-660D-9957-D94B3635D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Content/Outline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0C3B9-EF23-4E9E-2891-ABF10AD25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700" b="0" i="0" u="none" strike="noStrike" baseline="0" dirty="0"/>
              <a:t>Introduction</a:t>
            </a:r>
          </a:p>
          <a:p>
            <a:pPr marR="0" lvl="0"/>
            <a:r>
              <a:rPr lang="en-US" sz="1700" b="0" i="0" u="none" strike="noStrike" baseline="0" dirty="0"/>
              <a:t>Background Study</a:t>
            </a:r>
          </a:p>
          <a:p>
            <a:pPr marR="0" lvl="0"/>
            <a:r>
              <a:rPr lang="en-US" sz="1700" b="0" i="0" u="none" strike="noStrike" baseline="0" dirty="0"/>
              <a:t>Motivation</a:t>
            </a:r>
          </a:p>
          <a:p>
            <a:pPr marR="0" lvl="0"/>
            <a:r>
              <a:rPr lang="en-US" sz="1700" b="0" i="0" u="none" strike="noStrike" baseline="0" dirty="0"/>
              <a:t>Methodology</a:t>
            </a:r>
          </a:p>
          <a:p>
            <a:pPr marR="0" lvl="0"/>
            <a:r>
              <a:rPr lang="en-US" sz="1700" b="0" i="0" u="none" strike="noStrike" baseline="0" dirty="0"/>
              <a:t>Experimental Analysis</a:t>
            </a:r>
          </a:p>
          <a:p>
            <a:pPr marR="0" lvl="0"/>
            <a:r>
              <a:rPr lang="en-US" sz="1700" b="0" i="0" u="none" strike="noStrike" baseline="0" dirty="0"/>
              <a:t>Result Analysis</a:t>
            </a:r>
          </a:p>
          <a:p>
            <a:pPr marR="0" lvl="0"/>
            <a:r>
              <a:rPr lang="en-US" sz="1700" b="0" i="0" u="none" strike="noStrike" baseline="0" dirty="0"/>
              <a:t>Limitations &amp; Future Work</a:t>
            </a:r>
          </a:p>
          <a:p>
            <a:pPr marR="0" lvl="0"/>
            <a:r>
              <a:rPr lang="en-US" sz="1700" b="0" i="0" u="none" strike="noStrike" baseline="0" dirty="0"/>
              <a:t>Conclusion</a:t>
            </a:r>
          </a:p>
          <a:p>
            <a:pPr marR="0" lvl="0"/>
            <a:r>
              <a:rPr lang="en-US" sz="1700" b="0" i="0" u="none" strike="noStrike" baseline="0" dirty="0"/>
              <a:t>References</a:t>
            </a:r>
          </a:p>
          <a:p>
            <a:pPr marR="0" lvl="0"/>
            <a:r>
              <a:rPr lang="en-US" sz="1700" b="0" i="0" u="none" strike="noStrike" baseline="0" dirty="0"/>
              <a:t>Q&amp;A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8E8D0-61D9-A3EE-7D9A-2792B14E5BF3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4570A-D611-660D-9957-D94B3635D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baseline="0" dirty="0"/>
              <a:t>Introduction</a:t>
            </a:r>
            <a:endParaRPr lang="en-US" sz="4000" b="1" i="0" u="none" strike="noStrike" baseline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erson standing in a kitchen&#10;&#10;Description automatically generated">
            <a:extLst>
              <a:ext uri="{FF2B5EF4-FFF2-40B4-BE49-F238E27FC236}">
                <a16:creationId xmlns:a16="http://schemas.microsoft.com/office/drawing/2014/main" id="{2E385EDC-23C2-71BE-1B7E-403F8F2B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37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ECB42761-83CE-2D42-C457-C4283DF80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81227"/>
              </p:ext>
            </p:extLst>
          </p:nvPr>
        </p:nvGraphicFramePr>
        <p:xfrm>
          <a:off x="590719" y="2330505"/>
          <a:ext cx="4559425" cy="397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5755008-D43F-2D25-192C-584898BC22B7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8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49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E73E9-633A-3544-D8F7-FBABE7A0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Background</a:t>
            </a:r>
            <a:r>
              <a:rPr lang="en-US" sz="3600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B165E-974E-D01D-E40D-77F6765C6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2421682"/>
            <a:ext cx="5565224" cy="3633363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existing food preparation monitoring manual checklists on </a:t>
            </a:r>
            <a:r>
              <a:rPr lang="en-US" sz="2400" b="0" i="0" u="none" strike="noStrike" baseline="0" dirty="0" err="1">
                <a:solidFill>
                  <a:schemeClr val="tx2"/>
                </a:solidFill>
              </a:rPr>
              <a:t>Foodpanda</a:t>
            </a:r>
            <a:endParaRPr lang="en-US" sz="2400" b="0" i="0" u="none" strike="noStrike" baseline="0" dirty="0">
              <a:solidFill>
                <a:schemeClr val="tx2"/>
              </a:solidFill>
            </a:endParaRP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Computer vision and its applications in food recognition and tracking.</a:t>
            </a: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Existing VR/AR applications in the food industry menu visualization</a:t>
            </a: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Limitations of current approaches. lack of real-time feedback, limited data capture, absence of user engagement</a:t>
            </a: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how the proposed VR/AR system addresses these limitations.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Virtual RealityHeadset">
            <a:extLst>
              <a:ext uri="{FF2B5EF4-FFF2-40B4-BE49-F238E27FC236}">
                <a16:creationId xmlns:a16="http://schemas.microsoft.com/office/drawing/2014/main" id="{0FA8E587-6ADD-6C02-239D-0C8C42F12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37CEB3-B146-E559-F283-6C822A42F45A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05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FCA69-B8F8-1098-AE99-97941121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Motivation</a:t>
            </a:r>
            <a:endParaRPr lang="en-US" sz="3600" b="1" i="0" u="none" strike="noStrike" kern="12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6E046-B3B1-7CD1-B4BA-E2049A065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1" y="2421682"/>
            <a:ext cx="5491353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the rationale behind developing this VR/AR food prep monitoring system.</a:t>
            </a: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specific challenges addressed by the system. ensuring ingredient accuracy, enhancing customer trust</a:t>
            </a:r>
          </a:p>
          <a:p>
            <a:pPr marR="0" lvl="0"/>
            <a:r>
              <a:rPr lang="en-US" sz="2400" b="0" i="0" u="none" strike="noStrike" baseline="0" dirty="0">
                <a:solidFill>
                  <a:schemeClr val="tx2"/>
                </a:solidFill>
              </a:rPr>
              <a:t>Potential benefits of VR and AR implementation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0526F934-D204-9B20-12EA-B239DB0E5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A265B5-211B-40EA-ED1C-A5108D0C9563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0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FCA69-B8F8-1098-AE99-97941121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  <a:endParaRPr lang="en-US" b="1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5F6E046-B3B1-7CD1-B4BA-E2049A065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dirty="0"/>
              <a:t>How to set up a virtual environment system in the kitchen and customers both sides?​</a:t>
            </a:r>
          </a:p>
          <a:p>
            <a:pPr marR="0" lvl="0"/>
            <a:r>
              <a:rPr lang="en-US" sz="2200" dirty="0"/>
              <a:t>How to train models on CNN, YOLO, R-CNN?​</a:t>
            </a:r>
          </a:p>
          <a:p>
            <a:pPr marR="0" lvl="0"/>
            <a:r>
              <a:rPr lang="en-US" sz="2200" dirty="0"/>
              <a:t>​How image processing models work?​</a:t>
            </a:r>
          </a:p>
          <a:p>
            <a:pPr marR="0" lvl="0"/>
            <a:r>
              <a:rPr lang="en-US" sz="2200" dirty="0"/>
              <a:t>How to ensure data privacy and security within a virtual kitchen environment?​</a:t>
            </a:r>
          </a:p>
          <a:p>
            <a:pPr marR="0" lvl="0"/>
            <a:r>
              <a:rPr lang="en-US" sz="2200" dirty="0"/>
              <a:t>What are the significant challenges in implementing virtual kitchen management systems?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0526F934-D204-9B20-12EA-B239DB0E5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EC7AC-522F-4D8A-440E-B87DCDB59CCC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6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B6D29-F5D9-B32E-E6C8-EF26BD76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CBC8D-8947-3AC9-89D4-0C96438D5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0" i="0" u="none" strike="noStrike" baseline="0" dirty="0">
                <a:solidFill>
                  <a:schemeClr val="tx2"/>
                </a:solidFill>
              </a:rPr>
              <a:t>Overview of the proposed model</a:t>
            </a:r>
          </a:p>
          <a:p>
            <a:pPr marR="0" lvl="0"/>
            <a:r>
              <a:rPr lang="en-US" sz="2000" b="0" i="0" u="none" strike="noStrike" baseline="0" dirty="0">
                <a:solidFill>
                  <a:schemeClr val="tx2"/>
                </a:solidFill>
              </a:rPr>
              <a:t>Aligning methodology with project goals</a:t>
            </a:r>
          </a:p>
          <a:p>
            <a:pPr marR="0" lvl="0"/>
            <a:r>
              <a:rPr lang="en-US" sz="2000" b="0" i="0" u="none" strike="noStrike" baseline="0" dirty="0">
                <a:solidFill>
                  <a:schemeClr val="tx2"/>
                </a:solidFill>
              </a:rPr>
              <a:t>Integration of VR, AR, and backend infrastructure</a:t>
            </a:r>
          </a:p>
          <a:p>
            <a:pPr marR="0" lvl="0"/>
            <a:r>
              <a:rPr lang="en-US" sz="2000" b="0" i="0" u="none" strike="noStrike" baseline="0" dirty="0">
                <a:solidFill>
                  <a:schemeClr val="tx2"/>
                </a:solidFill>
              </a:rPr>
              <a:t>Image dataset collection of various food items</a:t>
            </a:r>
          </a:p>
          <a:p>
            <a:pPr marR="0" lvl="0"/>
            <a:r>
              <a:rPr lang="en-US" sz="2000" b="0" i="0" u="none" strike="noStrike" baseline="0" dirty="0">
                <a:solidFill>
                  <a:schemeClr val="tx2"/>
                </a:solidFill>
              </a:rPr>
              <a:t>training object detection/recognition models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2EBB0D8-9863-DBFE-4B7B-CE6AEC90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30" y="590853"/>
            <a:ext cx="5477621" cy="56762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ED7D4-C618-A4D7-78BC-9F731F65A406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3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11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B6D29-F5D9-B32E-E6C8-EF26BD76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54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CBC8D-8947-3AC9-89D4-0C96438D5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809" y="257375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>
              <a:buNone/>
            </a:pPr>
            <a:r>
              <a:rPr lang="en-US" sz="20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architecture with diagram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A563EAC-CC02-DD75-17B9-B6A68FECD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653" y="737137"/>
            <a:ext cx="3804017" cy="6649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2E9ED-0E2A-173D-D191-8F8085E26FA4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08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7037E-7 L -4.16667E-6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B6D29-F5D9-B32E-E6C8-EF26BD76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4065669" cy="19335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baseline="0" dirty="0"/>
              <a:t>Methodology</a:t>
            </a:r>
            <a:endParaRPr lang="en-US" sz="4000" b="1" i="0" u="none" strike="noStrike" baseline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CBC8D-8947-3AC9-89D4-0C96438D5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4505" y="2714625"/>
            <a:ext cx="4065668" cy="3023566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900" b="0" i="0" u="none" strike="noStrike" baseline="0" dirty="0"/>
              <a:t>core components restaurant-side data acquisition, server integration</a:t>
            </a:r>
          </a:p>
          <a:p>
            <a:pPr marR="0" lvl="0"/>
            <a:r>
              <a:rPr lang="en-US" sz="1900" b="0" i="0" u="none" strike="noStrike" baseline="0" dirty="0"/>
              <a:t>object detection and choice of model YOLO/CNN/R-CNN</a:t>
            </a:r>
          </a:p>
          <a:p>
            <a:pPr marR="0" lvl="0"/>
            <a:r>
              <a:rPr lang="en-US" sz="1900" b="0" i="0" u="none" strike="noStrike" baseline="0" dirty="0"/>
              <a:t>ingredient recognition model (YOLO) and its training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F36BC4-9672-1811-D222-FB2D7A4CFF0A}"/>
              </a:ext>
            </a:extLst>
          </p:cNvPr>
          <p:cNvGrpSpPr/>
          <p:nvPr/>
        </p:nvGrpSpPr>
        <p:grpSpPr>
          <a:xfrm>
            <a:off x="6265452" y="939797"/>
            <a:ext cx="4616077" cy="5230505"/>
            <a:chOff x="6163852" y="1028697"/>
            <a:chExt cx="4616077" cy="52305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1BCDA43-341A-6DBA-597A-553863D52095}"/>
                </a:ext>
              </a:extLst>
            </p:cNvPr>
            <p:cNvGrpSpPr/>
            <p:nvPr/>
          </p:nvGrpSpPr>
          <p:grpSpPr>
            <a:xfrm>
              <a:off x="8977751" y="1028697"/>
              <a:ext cx="1802178" cy="5230505"/>
              <a:chOff x="8977751" y="1028697"/>
              <a:chExt cx="1802178" cy="5230505"/>
            </a:xfrm>
          </p:grpSpPr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7CFFD65A-E6B2-0BBB-2CCB-A236726A7C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977751" y="1028697"/>
                <a:ext cx="1802178" cy="4572064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0503A0-72FE-4317-5B9E-B3BEED7074E6}"/>
                  </a:ext>
                </a:extLst>
              </p:cNvPr>
              <p:cNvSpPr txBox="1"/>
              <p:nvPr/>
            </p:nvSpPr>
            <p:spPr>
              <a:xfrm>
                <a:off x="9067800" y="5735982"/>
                <a:ext cx="1422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YOLO Working Procedure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2176E75-4C97-B7E0-8511-885B3118B9FD}"/>
                </a:ext>
              </a:extLst>
            </p:cNvPr>
            <p:cNvGrpSpPr/>
            <p:nvPr/>
          </p:nvGrpSpPr>
          <p:grpSpPr>
            <a:xfrm>
              <a:off x="6163852" y="1028700"/>
              <a:ext cx="1422400" cy="5230502"/>
              <a:chOff x="6163852" y="1028700"/>
              <a:chExt cx="1422400" cy="5230502"/>
            </a:xfrm>
          </p:grpSpPr>
          <p:pic>
            <p:nvPicPr>
              <p:cNvPr id="5" name="Graphic 4">
                <a:extLst>
                  <a:ext uri="{FF2B5EF4-FFF2-40B4-BE49-F238E27FC236}">
                    <a16:creationId xmlns:a16="http://schemas.microsoft.com/office/drawing/2014/main" id="{172ED5A6-B2E4-D153-DC3E-3DBBF468E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18054" y="1028700"/>
                <a:ext cx="1313997" cy="4572064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CF881-377B-51E4-5C72-BB040633F735}"/>
                  </a:ext>
                </a:extLst>
              </p:cNvPr>
              <p:cNvSpPr txBox="1"/>
              <p:nvPr/>
            </p:nvSpPr>
            <p:spPr>
              <a:xfrm>
                <a:off x="6163852" y="5735982"/>
                <a:ext cx="1422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Server Side</a:t>
                </a:r>
              </a:p>
              <a:p>
                <a:pPr algn="ctr"/>
                <a:r>
                  <a:rPr lang="en-US" sz="1400" b="1" dirty="0"/>
                  <a:t>Integration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0DD192-8BF1-FBF2-CA59-DD14DCFE1583}"/>
              </a:ext>
            </a:extLst>
          </p:cNvPr>
          <p:cNvGrpSpPr/>
          <p:nvPr/>
        </p:nvGrpSpPr>
        <p:grpSpPr>
          <a:xfrm>
            <a:off x="5699223" y="2515197"/>
            <a:ext cx="6492775" cy="2958885"/>
            <a:chOff x="5699223" y="2515197"/>
            <a:chExt cx="6492775" cy="2958885"/>
          </a:xfrm>
        </p:grpSpPr>
        <p:pic>
          <p:nvPicPr>
            <p:cNvPr id="17" name="Picture 16" descr="A diagram of a diagram of a diagram&#10;&#10;Description automatically generated">
              <a:extLst>
                <a:ext uri="{FF2B5EF4-FFF2-40B4-BE49-F238E27FC236}">
                  <a16:creationId xmlns:a16="http://schemas.microsoft.com/office/drawing/2014/main" id="{E65A98CD-06F1-0561-6E95-6AA531CAF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9223" y="2515197"/>
              <a:ext cx="6492775" cy="199777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2C9B77-0D0F-62ED-07BA-2836C4FBF869}"/>
                </a:ext>
              </a:extLst>
            </p:cNvPr>
            <p:cNvSpPr txBox="1"/>
            <p:nvPr/>
          </p:nvSpPr>
          <p:spPr>
            <a:xfrm>
              <a:off x="6976652" y="4550752"/>
              <a:ext cx="466050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/>
                <a:t>Object Detection Convolutions &amp; Sampling</a:t>
              </a:r>
              <a:br>
                <a:rPr lang="en-US" sz="1800" b="1" dirty="0"/>
              </a:br>
              <a:r>
                <a:rPr lang="en-US" sz="1800" b="1" dirty="0"/>
                <a:t>Training From Input to Output</a:t>
              </a:r>
            </a:p>
            <a:p>
              <a:endParaRPr 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641BC10-4973-5B9A-5D5B-B264EA9CC664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7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61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11851-474E-4ED0-2A81-52FA0848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Experimental Analysis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C9B8A-5724-9662-13F8-E51147A05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b="0" i="0" u="none" strike="noStrike" baseline="0" dirty="0"/>
              <a:t>Testing with Burger Making Process.</a:t>
            </a:r>
          </a:p>
          <a:p>
            <a:pPr marR="0" lvl="0"/>
            <a:r>
              <a:rPr lang="en-US" b="0" i="0" u="none" strike="noStrike" baseline="0" dirty="0"/>
              <a:t>Data collection methods</a:t>
            </a:r>
          </a:p>
          <a:p>
            <a:pPr marR="0" lvl="0"/>
            <a:r>
              <a:rPr lang="en-US" b="0" i="0" u="none" strike="noStrike" baseline="0" dirty="0"/>
              <a:t>the accuracy of ingredient recognition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AADA55-F69D-C9A8-FF5F-0ABF1D549BB5}"/>
              </a:ext>
            </a:extLst>
          </p:cNvPr>
          <p:cNvGrpSpPr/>
          <p:nvPr/>
        </p:nvGrpSpPr>
        <p:grpSpPr>
          <a:xfrm>
            <a:off x="273111" y="1986887"/>
            <a:ext cx="5173831" cy="2884225"/>
            <a:chOff x="306732" y="1984443"/>
            <a:chExt cx="5173831" cy="2884225"/>
          </a:xfrm>
        </p:grpSpPr>
        <p:pic>
          <p:nvPicPr>
            <p:cNvPr id="5" name="Picture 4" descr="A screenshot of a computer screen">
              <a:extLst>
                <a:ext uri="{FF2B5EF4-FFF2-40B4-BE49-F238E27FC236}">
                  <a16:creationId xmlns:a16="http://schemas.microsoft.com/office/drawing/2014/main" id="{86F04E33-0DAF-46AE-62B8-0BC7CF3C1E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94"/>
            <a:stretch/>
          </p:blipFill>
          <p:spPr>
            <a:xfrm>
              <a:off x="306732" y="1984443"/>
              <a:ext cx="5173831" cy="2525825"/>
            </a:xfrm>
            <a:custGeom>
              <a:avLst/>
              <a:gdLst/>
              <a:ahLst/>
              <a:cxnLst/>
              <a:rect l="l" t="t" r="r" b="b"/>
              <a:pathLst>
                <a:path w="4777381" h="5643794">
                  <a:moveTo>
                    <a:pt x="143704" y="0"/>
                  </a:moveTo>
                  <a:lnTo>
                    <a:pt x="4633677" y="0"/>
                  </a:lnTo>
                  <a:cubicBezTo>
                    <a:pt x="4713043" y="0"/>
                    <a:pt x="4777381" y="64338"/>
                    <a:pt x="4777381" y="143704"/>
                  </a:cubicBezTo>
                  <a:lnTo>
                    <a:pt x="4777381" y="5500090"/>
                  </a:lnTo>
                  <a:cubicBezTo>
                    <a:pt x="4777381" y="5579456"/>
                    <a:pt x="4713043" y="5643794"/>
                    <a:pt x="4633677" y="5643794"/>
                  </a:cubicBezTo>
                  <a:lnTo>
                    <a:pt x="143704" y="5643794"/>
                  </a:lnTo>
                  <a:cubicBezTo>
                    <a:pt x="64338" y="5643794"/>
                    <a:pt x="0" y="5579456"/>
                    <a:pt x="0" y="5500090"/>
                  </a:cubicBezTo>
                  <a:lnTo>
                    <a:pt x="0" y="143704"/>
                  </a:lnTo>
                  <a:cubicBezTo>
                    <a:pt x="0" y="64338"/>
                    <a:pt x="64338" y="0"/>
                    <a:pt x="143704" y="0"/>
                  </a:cubicBezTo>
                  <a:close/>
                </a:path>
              </a:pathLst>
            </a:cu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7247B9-CE8E-BC25-C58B-F53C6772D7BB}"/>
                </a:ext>
              </a:extLst>
            </p:cNvPr>
            <p:cNvSpPr txBox="1"/>
            <p:nvPr/>
          </p:nvSpPr>
          <p:spPr>
            <a:xfrm>
              <a:off x="1867744" y="4499336"/>
              <a:ext cx="2823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Classification CNN model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2D1D6D-5BB0-2319-7A49-0E541C372B93}"/>
              </a:ext>
            </a:extLst>
          </p:cNvPr>
          <p:cNvGrpSpPr/>
          <p:nvPr/>
        </p:nvGrpSpPr>
        <p:grpSpPr>
          <a:xfrm>
            <a:off x="1261354" y="1351668"/>
            <a:ext cx="4219209" cy="3517000"/>
            <a:chOff x="1261354" y="1351668"/>
            <a:chExt cx="4219209" cy="3517000"/>
          </a:xfrm>
        </p:grpSpPr>
        <p:pic>
          <p:nvPicPr>
            <p:cNvPr id="9" name="Picture 8" descr="A cucumber and tomatoes on a cutting board&#10;&#10;Description automatically generated">
              <a:extLst>
                <a:ext uri="{FF2B5EF4-FFF2-40B4-BE49-F238E27FC236}">
                  <a16:creationId xmlns:a16="http://schemas.microsoft.com/office/drawing/2014/main" id="{46901559-363A-1EC5-EDD3-8D25065B0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1354" y="1351668"/>
              <a:ext cx="4219209" cy="315860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9A26EC-390D-3DB3-74BB-F1825955057D}"/>
                </a:ext>
              </a:extLst>
            </p:cNvPr>
            <p:cNvSpPr txBox="1"/>
            <p:nvPr/>
          </p:nvSpPr>
          <p:spPr>
            <a:xfrm>
              <a:off x="1867744" y="4499336"/>
              <a:ext cx="3131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 </a:t>
              </a:r>
              <a:r>
                <a:rPr lang="en-US" dirty="0" err="1"/>
                <a:t>DetectionYOLO</a:t>
              </a:r>
              <a:r>
                <a:rPr lang="en-US" dirty="0"/>
                <a:t> model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75934B0-56DC-8599-EF0D-0125BF107277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5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E0359-39A0-C568-8D70-5BFCA3A5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EBF55-8D39-2FA6-2420-80A7CCAE5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performance of the ingredient recognition model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web page&#10;&#10;Description automatically generated">
            <a:extLst>
              <a:ext uri="{FF2B5EF4-FFF2-40B4-BE49-F238E27FC236}">
                <a16:creationId xmlns:a16="http://schemas.microsoft.com/office/drawing/2014/main" id="{C502A7CE-EB09-BE97-BF0B-C09D18242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775010"/>
            <a:ext cx="5536001" cy="52492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D1F465-DBA8-1D6D-AB60-A30EB8949770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3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6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E0359-39A0-C568-8D70-5BFCA3A5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baseline="0" dirty="0"/>
              <a:t>Result Analysis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EBF55-8D39-2FA6-2420-80A7CCAE5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0" i="0" u="none" strike="noStrike" baseline="0" dirty="0"/>
              <a:t>metrices/precision curve</a:t>
            </a:r>
          </a:p>
          <a:p>
            <a:pPr marR="0" lvl="0"/>
            <a:r>
              <a:rPr lang="en-US" sz="2400" b="0" i="0" u="none" strike="noStrike" baseline="0" dirty="0" err="1"/>
              <a:t>val</a:t>
            </a:r>
            <a:r>
              <a:rPr lang="en-US" sz="2400" b="0" i="0" u="none" strike="noStrike" baseline="0" dirty="0"/>
              <a:t>/loss curve</a:t>
            </a:r>
          </a:p>
        </p:txBody>
      </p:sp>
      <p:pic>
        <p:nvPicPr>
          <p:cNvPr id="7" name="Picture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A29EDD9-7CFC-70DF-8080-B668331CF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628234"/>
            <a:ext cx="5468112" cy="3561395"/>
          </a:xfrm>
          <a:prstGeom prst="rect">
            <a:avLst/>
          </a:prstGeom>
        </p:spPr>
      </p:pic>
      <p:pic>
        <p:nvPicPr>
          <p:cNvPr id="5" name="Picture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305E4D39-A4E3-C100-51EA-C2A605B1F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713817"/>
            <a:ext cx="5468112" cy="33902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6DCE16-D98F-66E8-D41F-5870FB0E28C6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5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6CB1-E8C8-4751-B6A6-46B2D1E72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499BF-CD5A-ED19-EBAC-948FF0FB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  <a:endParaRPr lang="en-US" sz="3600" b="1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0C0D1-E79A-41FF-8322-256F6DD1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03695EB-89C4-563E-1AC7-901E4EB0E6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" r="8698" b="-5"/>
          <a:stretch/>
        </p:blipFill>
        <p:spPr>
          <a:xfrm>
            <a:off x="429767" y="1721922"/>
            <a:ext cx="3419856" cy="4520560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E065BAEE-2603-EF97-6963-91DEEA759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87" b="-2"/>
          <a:stretch/>
        </p:blipFill>
        <p:spPr>
          <a:xfrm>
            <a:off x="4226837" y="1721922"/>
            <a:ext cx="3420596" cy="4520560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95FA420-5595-49D1-9D5F-79EC43B5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4648" y="1721922"/>
            <a:ext cx="3609143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64D2F-DF18-9E03-832D-735D0F9DC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348" y="2020824"/>
            <a:ext cx="2956060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0" i="0" u="none" strike="noStrike" baseline="0" dirty="0"/>
              <a:t>new ingredient recognition accuracy or object detection</a:t>
            </a:r>
          </a:p>
          <a:p>
            <a:pPr marR="0" lvl="0"/>
            <a:r>
              <a:rPr lang="en-US" sz="2400" b="0" i="0" u="none" strike="noStrike" baseline="0" dirty="0"/>
              <a:t>Hardware Resources Getting Bottleneck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95A85-6A7E-DC5F-C89D-E92CB9ADF0CF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4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9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6FD8-6C95-0B2B-53DD-8E931284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sz="4800" b="1" i="0" u="none" strike="noStrike" kern="100" baseline="0" dirty="0">
                <a:latin typeface="Vrinda" panose="020B0502040204020203" pitchFamily="34" charset="0"/>
              </a:rPr>
              <a:t>Future</a:t>
            </a:r>
            <a:r>
              <a:rPr lang="en-US" b="1" i="0" u="none" strike="noStrike" kern="100" baseline="0" dirty="0">
                <a:latin typeface="Vrinda" panose="020B0502040204020203" pitchFamily="34" charset="0"/>
              </a:rPr>
              <a:t> Work</a:t>
            </a:r>
          </a:p>
        </p:txBody>
      </p:sp>
      <p:graphicFrame>
        <p:nvGraphicFramePr>
          <p:cNvPr id="17" name="Text Placeholder 2">
            <a:extLst>
              <a:ext uri="{FF2B5EF4-FFF2-40B4-BE49-F238E27FC236}">
                <a16:creationId xmlns:a16="http://schemas.microsoft.com/office/drawing/2014/main" id="{17505CD6-351C-6BC2-80BB-322F1BA0A6BE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AD6ED78-E559-C45F-45A5-F80111711145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7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092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8390D-F8BA-9380-A10F-70D627D5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F5E4B1E-51E1-F260-7ADF-2A62CC521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708223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75B4199-6A15-DF88-EB67-6CE43044EFCB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7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94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6800-50B2-C8FE-A557-6288F161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sz="6000" b="1" i="0" u="none" strike="noStrike" kern="100" baseline="0" dirty="0"/>
              <a:t>References</a:t>
            </a:r>
            <a:endParaRPr lang="en-US" b="1" i="0" u="none" strike="noStrike" kern="100" baseline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A2329-DD2C-2010-B81A-AFD1B8128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Joseph Redmon, Santosh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Divvala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Ross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Girshick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“You Only Look Once: Unified, Real-Time Object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Detection”, The IEEE Conference on Computer Vision and Pattern Recognition (CVPR), 2016, pp. 779-788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Liu, C., Cao, Y., Luo, Y., Chen, G.,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Vokkarane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V., &amp; Ma, Y. (2016).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Deepfood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learning-based food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for computer-aided dietary assessment. In Inclusive Smart Cities and Digital Health: 14th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Smart Homes and Health Telematics, ICOST 2016, Wuhan, China, May 25-27, 2016.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14 (pp. 37-48). Springer International Publishing.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Nguyen, C.H., Cai, Chen, F.: Automatic classification of traffic incident’s severity using machine learning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approaches. IET Intel. Transp. Syst. 11, 615–623 (2017)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Zhao-Min Chen, Xiu-Shen Wei, Peng Wang,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Yanwen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Guo; Proceedings of the IEEE/CVF Conference on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Pattern Recognition (CVPR), 2019, pp. 5177-5186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Bochkovskiy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Wang, C., &amp; Liao, H. (2020). YOLOv4: Optimal Speed and Accuracy of Object Detection.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/abs/2004.10934 </a:t>
            </a:r>
          </a:p>
          <a:p>
            <a:pPr marL="0" marR="0" lvl="0" indent="0" rtl="0">
              <a:buNone/>
            </a:pP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Food Recognition by </a:t>
            </a:r>
            <a:r>
              <a:rPr lang="en-US" sz="1600" dirty="0">
                <a:solidFill>
                  <a:srgbClr val="1C51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Hoang Lan Nguyen </a:t>
            </a:r>
            <a:r>
              <a:rPr lang="en-US" sz="16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https://github.com/lannguyen0910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5327D5-E731-F21F-1761-E9EA46CCDCD6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91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65C3F-3DD2-023D-559F-A2478777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80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FEF1F-6BA8-0FF7-04BE-47523436B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688" y="1553518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>
              <a:buNone/>
            </a:pPr>
            <a:r>
              <a:rPr lang="en-US" sz="24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Thoughts are Valuable to us.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6A6F00-CF9C-60FC-5D06-D41AB63BA4A0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17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65C3F-3DD2-023D-559F-A2478777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80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DB693-355C-BA95-840F-04156BBC370D}"/>
              </a:ext>
            </a:extLst>
          </p:cNvPr>
          <p:cNvSpPr/>
          <p:nvPr/>
        </p:nvSpPr>
        <p:spPr>
          <a:xfrm>
            <a:off x="11049000" y="146996"/>
            <a:ext cx="974724" cy="974725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6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764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Vrinda</vt:lpstr>
      <vt:lpstr>Office Theme</vt:lpstr>
      <vt:lpstr>Virtual Kitchen Management: Machine Learning Object Detection and YOLO Model Integration in Restaurants</vt:lpstr>
      <vt:lpstr>Virtual Kitchen Management</vt:lpstr>
      <vt:lpstr>Thesis Member</vt:lpstr>
      <vt:lpstr>Content/Outline</vt:lpstr>
      <vt:lpstr>Introduction</vt:lpstr>
      <vt:lpstr>Background Study</vt:lpstr>
      <vt:lpstr>Motivation</vt:lpstr>
      <vt:lpstr>Motivation</vt:lpstr>
      <vt:lpstr>Methodology</vt:lpstr>
      <vt:lpstr>Methodology</vt:lpstr>
      <vt:lpstr>Methodology</vt:lpstr>
      <vt:lpstr>Experimental Analysis</vt:lpstr>
      <vt:lpstr>Result Analysis</vt:lpstr>
      <vt:lpstr>Result Analysis</vt:lpstr>
      <vt:lpstr>Limitations</vt:lpstr>
      <vt:lpstr>Future Work</vt:lpstr>
      <vt:lpstr>Conclusion</vt:lpstr>
      <vt:lpstr>References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Kitchen Management: Machine Learning Object Detection and YOLO Model Integration in Restaurants</dc:title>
  <dc:creator>SAIFUL ISLAM</dc:creator>
  <cp:lastModifiedBy>SAIFUL ISLAM</cp:lastModifiedBy>
  <cp:revision>8</cp:revision>
  <dcterms:created xsi:type="dcterms:W3CDTF">2024-05-09T10:22:50Z</dcterms:created>
  <dcterms:modified xsi:type="dcterms:W3CDTF">2024-05-09T12:43:38Z</dcterms:modified>
</cp:coreProperties>
</file>